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12192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81929361" val="1228" rev64="64" revOS="3"/>
      <pr:smFileRevision xmlns:pr="smNativeData" xmlns="smNativeData" dt="1781929361" val="101"/>
      <pr:guideOptions xmlns:pr="smNativeData" xmlns="smNativeData" dt="1781929361" snapToBorders="1"/>
      <pr:pdfExportOpt xmlns:pr="smNativeData" xmlns="smNativeData" dt="1781929361" pagesRangeIndex="1" pagesSelectionIndex="0" qualityIndex="2" embedFonts="2" pdfaType="0" useJpegs="0" useSubsetFonts="1" useAlpha="1" relativeLinks="0" taggedPdf="1" pane="0" zoom="0" zoomContents="100" layout="0" includeDoc="0" viewFlags="0" openViewer="1" jpegQuality="90" flags="252" layoutIndex="0" exportSlideNames="1" dpi="2" resample="1" name="/home/punk/Desktop/Projects/Educational/Projeto_Integrador_I/crime-sp-ml/docs/apresentacao.pdf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 snapToObjects="1">
      <p:cViewPr varScale="1">
        <p:scale>
          <a:sx n="111" d="100"/>
          <a:sy n="111" d="100"/>
        </p:scale>
        <p:origin x="382" y="442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9" d="100"/>
        <a:sy n="19" d="100"/>
      </p:scale>
      <p:origin x="0" y="0"/>
    </p:cViewPr>
  </p:sorterViewPr>
  <p:notesViewPr>
    <p:cSldViewPr snapToGrid="0" snapToObjects="1">
      <p:cViewPr>
        <p:scale>
          <a:sx n="111" d="100"/>
          <a:sy n="111" d="100"/>
        </p:scale>
        <p:origin x="382" y="442"/>
      </p:cViewPr>
    </p:cSldViewPr>
  </p:notesViewPr>
  <p:gridSpacing cx="78028800" cy="7802880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IEgAA0wIAABAAAAAmAAAACAAAAD+PAAAAAAAAMAAAABQAAAAAAAAAAAD//wAAAQAAAP//AAABAA==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YAc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AAAAAAuKgAA0wIAABAAAAAmAAAACAAAAD+PAAAAAAAAMAAAABQAAAAAAAAAAAD//wAAAQAAAP//AAABAA=="/>
              </a:ext>
            </a:extLst>
          </p:cNvSpPr>
          <p:nvPr>
            <p:ph type="dt" idx="10"/>
          </p:nvPr>
        </p:nvSpPr>
        <p:spPr>
          <a:xfrm>
            <a:off x="388493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09DDDDFC-B2E4-882B-AA65-447E932B5C11}" type="datetime1">
              <a:t>7/23/19</a:t>
            </a:fld>
          </a:p>
        </p:txBody>
      </p:sp>
      <p:sp>
        <p:nvSpPr>
          <p:cNvPr id="4" name="Slide Image Placeholder 3"/>
          <p:cNvSpPr>
            <a:spLocks noGrp="1" noChangeArrowheads="1"/>
            <a:extLst>
              <a:ext uri="smNativeData">
                <pr:smNativeData xmlns:pr="smNativeData" xmlns="smNativeData" val="SMDATA_16_kRU2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E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L8PAAD/HwAAMAAAABQAAAAAAAAAAAD//wAAAQAAAP//AAABAA=="/>
              </a:ext>
            </a:extLst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/>
            <a:endParaRPr lang="en-us" cap="none"/>
          </a:p>
        </p:txBody>
      </p:sp>
      <p:sp>
        <p:nvSpPr>
          <p:cNvPr id="5" name="Notes Placeholder 4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D8PAAD/HwAA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YAc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G41AABIEgAAQDgAABAAAAAmAAAACAAAAL+PAAD/HwAAMAAAABQAAAAAAAAAAAD//wAAAQAAAP//AAABAA=="/>
              </a:ext>
            </a:extLst>
          </p:cNvSpPr>
          <p:nvPr>
            <p:ph type="ftr" sz="quarter" idx="11"/>
          </p:nvPr>
        </p:nvSpPr>
        <p:spPr>
          <a:xfrm>
            <a:off x="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kA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L+PAAD/HwAAMAAAABQAAAAAAAAAAAD//wAAAQAAAP//AAABAA==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2001ECBD-F3CD-541A-83B9-054FA2F77550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themeOverride" Target="../theme/themeOverride1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themeOverride" Target="../theme/themeOverride2.xml"/></Relationships>
</file>

<file path=ppt/notesSlides/_rels/notesSlide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themeOverride" Target="../theme/themeOverride3.xml"/></Relationships>
</file>

<file path=ppt/notesSlides/_rels/notesSlide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Relationship Id="rId3" Type="http://schemas.openxmlformats.org/officeDocument/2006/relationships/themeOverride" Target="../theme/themeOverride4.xml"/></Relationships>
</file>

<file path=ppt/notesSlides/_rels/notesSlide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Relationship Id="rId3" Type="http://schemas.openxmlformats.org/officeDocument/2006/relationships/themeOverride" Target="../theme/themeOverride5.xml"/></Relationships>
</file>

<file path=ppt/notesSlides/_rels/notesSlide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Relationship Id="rId3" Type="http://schemas.openxmlformats.org/officeDocument/2006/relationships/themeOverride" Target="../theme/themeOverride6.xml"/></Relationships>
</file>

<file path=ppt/notesSlides/_rels/notesSlide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Relationship Id="rId3" Type="http://schemas.openxmlformats.org/officeDocument/2006/relationships/themeOverride" Target="../theme/themeOverride7.xml"/></Relationships>
</file>

<file path=ppt/notesSlides/_rels/notesSlide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Relationship Id="rId3" Type="http://schemas.openxmlformats.org/officeDocument/2006/relationships/themeOverride" Target="../theme/themeOverride8.xml"/></Relationships>
</file>

<file path=ppt/notesSlides/_rels/notesSlide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Relationship Id="rId3" Type="http://schemas.openxmlformats.org/officeDocument/2006/relationships/themeOverride" Target="../theme/themeOverride9.xml"/></Relationships>
</file>

<file path=ppt/notesSlides/_rels/notesSlide1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Relationship Id="rId3" Type="http://schemas.openxmlformats.org/officeDocument/2006/relationships/themeOverride" Target="../theme/themeOverride10.xml"/></Relationships>
</file>

<file path=ppt/notesSlides/_rels/notesSlide1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Relationship Id="rId3" Type="http://schemas.openxmlformats.org/officeDocument/2006/relationships/themeOverride" Target="../theme/themeOverride11.xml"/></Relationships>
</file>

<file path=ppt/notesSlides/_rels/notesSlide1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Relationship Id="rId3" Type="http://schemas.openxmlformats.org/officeDocument/2006/relationships/themeOverride" Target="../theme/themeOverride12.xml"/></Relationships>
</file>

<file path=ppt/notesSlides/_rels/notesSlide1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Relationship Id="rId3" Type="http://schemas.openxmlformats.org/officeDocument/2006/relationships/themeOverride" Target="../theme/themeOverride13.xml"/></Relationships>
</file>

<file path=ppt/notesSlides/_rels/notesSlide1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Relationship Id="rId3" Type="http://schemas.openxmlformats.org/officeDocument/2006/relationships/themeOverride" Target="../theme/themeOverride14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6_kRU2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MAAAABQAAAAAAAAAAAD//wAAAQAAAP//AAAB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MAAAABQAAAAAAAAAAAD//wAAAQAAAP//AAABAA==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3F944BD-F3DE-ACB2-9041-05E70A0F6650}" type="slidenum">
              <a:t>1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6_kRU2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MAAAABQAAAAAAAAAAAD//wAAAQAAAP//AAAB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MAAAABQAAAAAAAAAAAD//wAAAQAAAP//AAABAA==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177026-689C-4286-D2AF-9ED33EE124CB}" type="slidenum">
              <a:rPr lang="en-us" cap="none"/>
              <a:t>2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6_kRU2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MAAAABQAAAAAAAAAAAD//wAAAQAAAP//AAAB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MAAAABQAAAAAAAAAAAD//wAAAQAAAP//AAABAA==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0A5E80BE-F0E7-0B76-A9E6-0623CEA85F53}" type="slidenum">
              <a:rPr lang="en-us" cap="none"/>
              <a:t>3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6_kRU2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MAAAABQAAAAAAAAAAAD//wAAAQAAAP//AAAB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MAAAABQAAAAAAAAAAAD//wAAAQAAAP//AAABAA==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AA49712-5C97-F161-D91C-AA34D9522FFF}" type="slidenum">
              <a:rPr lang="en-us" cap="none"/>
              <a:t>4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6_kRU2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MAAAABQAAAAAAAAAAAD//wAAAQAAAP//AAAB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MAAAABQAAAAAAAAAAAD//wAAAQAAAP//AAABAA==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48D102F5-BBA5-84F4-EB69-4DA14C271D18}" type="slidenum">
              <a:rPr lang="en-us" cap="none"/>
              <a:t>5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6_kRU2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MAAAABQAAAAAAAAAAAD//wAAAQAAAP//AAAB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B5BI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MAAAABQAAAAAAAAAAAD//wAAAQAAAP//AAABAA==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121F2CAF-E1FF-4ADA-B1A7-178F62E94742}" type="slidenum">
              <a:rPr lang="en-us" cap="none"/>
              <a:t>6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6_kRU2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MAAAABQAAAAAAAAAAAD//wAAAQAAAP//AAAB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MAAAABQAAAAAAAAAAAD//wAAAQAAAP//AAABAA==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CFEA359-1791-AB55-DF46-E100ED0829B4}" type="slidenum">
              <a:rPr lang="en-us" cap="none"/>
              <a:t>7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6_kRU2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MAAAABQAAAAAAAAAAAD//wAAAQAAAP//AAAB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Af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MAAAABQAAAAAAAAAAAD//wAAAQAAAP//AAABAA==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506E125D-13BD-3BE4-F3D6-E5B15C9805B0}" type="slidenum">
              <a:rPr lang="en-us" cap="none"/>
              <a:t>8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6_kRU2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MAAAABQAAAAAAAAAAAD//wAAAQAAAP//AAAB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MAAAABQAAAAAAAAAAAD//wAAAQAAAP//AAABAA==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2A5A4B2-FCDF-F052-911D-0A07EA53675F}" type="slidenum">
              <a:rPr lang="en-us" cap="none"/>
              <a:t>9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6_kRU2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MAAAABQAAAAAAAAAAAD//wAAAQAAAP//AAAB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MAAAABQAAAAAAAAAAAD//wAAAQAAAP//AAABAA==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1CB1DA41-0FF1-E42C-BF09-F979944749AC}" type="slidenum">
              <a:rPr lang="en-us" cap="none"/>
              <a:t>10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6_kRU2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MAAAABQAAAAAAAAAAAD//wAAAQAAAP//AAAB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MAAAABQAAAAAAAAAAAD//wAAAQAAAP//AAABAA==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2B8952BA-F4C6-DCA4-8831-02F11C7F7E57}" type="slidenum">
              <a:rPr lang="en-us" cap="none"/>
              <a:t>11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6_kRU2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MAAAABQAAAAAAAAAAAD//wAAAQAAAP//AAAB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MAAAABQAAAAAAAAAAAD//wAAAQAAAP//AAABAA==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565EA569-27BB-0B53-F5E6-D106EBA80384}" type="slidenum">
              <a:rPr lang="en-us" cap="none"/>
              <a:t>12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6_kRU2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MAAAABQAAAAAAAAAAAD//wAAAQAAAP//AAAB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MAAAABQAAAAAAAAAAAD//wAAAQAAAP//AAABAA==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6A65A4C-029B-F3AC-D51E-F4F9145023A1}" type="slidenum">
              <a:rPr lang="en-us" cap="none"/>
              <a:t>13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6_kRU2ah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MAAAABQAAAAAAAAAAAD//wAAAQAAAP//AAAB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6_kRU2ah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MAAAABQAAAAAAAAAAAD//wAAAQAAAP//AAABAA==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28E3533E-70C5-B6A5-8B5B-86F01D157DD3}" type="slidenum">
              <a:rPr lang="en-us" cap="none"/>
              <a:t>14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1"/>
          </a:solidFill>
          <a:effectLst/>
          <a:latin typeface="Calibri Light" pitchFamily="0" charset="0"/>
          <a:ea typeface="Calibri Light" pitchFamily="0" charset="0"/>
          <a:cs typeface="Calibri Light" pitchFamily="0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"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6_kRU2ahMAAAAlAAAAZgAAAA0AAAAAkAAAAEgAAACQAAAASAAAAAAAAAAAAAAAAAAAAAEAAABQAAAAAAAAAAAA8D8AAAAAAADwPwAAAAAAAOA/AAAAAAAA4D8AAAAAAADgPwAAAAAAAOA/AAAAAAAA4D8AAAAAAADgPwAAAAAAAOA/AAAAAAAA4D8CAAAAjAAAAAEAAAAAAAAAHDpe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DpeAP///wEAAAAAAAAAAAAAAAAAAAAAAAAAAAAAAAAAAAAAAAAAAAAAAAB/f38A5+bmA8zMzADAwP8Af39/AAAAAAAAAAAAAAAAAAAAAAAAAAAAIQAAABgAAAAUAAAA0EEAAND5///QUwAA0AsAABAAAAAmAAAACAAAAP//////////MAAAABQAAAAAAAAAAAD//wAAAQAAAP//AAABAA=="/>
              </a:ext>
            </a:extLst>
          </p:cNvSpPr>
          <p:nvPr/>
        </p:nvSpPr>
        <p:spPr>
          <a:xfrm>
            <a:off x="10698480" y="-1005840"/>
            <a:ext cx="2926080" cy="2926080"/>
          </a:xfrm>
          <a:prstGeom prst="ellipse">
            <a:avLst/>
          </a:prstGeom>
          <a:solidFill>
            <a:srgbClr val="1C3A5E"/>
          </a:solidFill>
          <a:ln>
            <a:noFill/>
          </a:ln>
          <a:effectLst/>
        </p:spPr>
      </p:sp>
      <p:sp>
        <p:nvSpPr>
          <p:cNvPr id="3" name="Shape 1"/>
          <p:cNvSpPr>
            <a:extLst>
              <a:ext uri="smNativeData">
                <pr:smNativeData xmlns:pr="smNativeData" xmlns="smNativeData" val="SMDATA_16_kRU2ahMAAAAlAAAAZgAAAA0AAAAAkAAAAEgAAACQAAAASAAAAAAAAAAAAAAAAAAAAAEAAABQAAAAAAAAAAAA8D8AAAAAAADwPwAAAAAAAOA/AAAAAAAA4D8AAAAAAADgPwAAAAAAAOA/AAAAAAAA4D8AAAAAAADgPwAAAAAAAOA/AAAAAAAA4D8CAAAAjAAAAAEAAAAAAAAAHDpe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DpeAP///wEAAAAAAAAAAAAAAAAAAAAAAAAAAAAAAAAAAAAAAAAAAAAAAAB/f38A5+bmA8zMzADAwP8Af39/AAAAAAAAAAAAAAAAAAAAAAAAAAAAIQAAABgAAAAUAAAAUEYAAGAeAADwVAAAAC0AABAAAAAmAAAACAAAAP//////////MAAAABQAAAAAAAAAAAD//wAAAQAAAP//AAABAA=="/>
              </a:ext>
            </a:extLst>
          </p:cNvSpPr>
          <p:nvPr/>
        </p:nvSpPr>
        <p:spPr>
          <a:xfrm>
            <a:off x="11430000" y="4937760"/>
            <a:ext cx="2377440" cy="2377440"/>
          </a:xfrm>
          <a:prstGeom prst="ellipse">
            <a:avLst/>
          </a:prstGeom>
          <a:solidFill>
            <a:srgbClr val="1C3A5E"/>
          </a:solidFill>
          <a:ln>
            <a:noFill/>
          </a:ln>
          <a:effectLst/>
        </p:spPr>
      </p:sp>
      <p:sp>
        <p:nvSpPr>
          <p:cNvPr id="4" name="Text 2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HAIAABAQQAAsAoAABAAAAAmAAAACAAAAP//////////MAAAABQAAAAAAAAAAAD//wAAAQAAAP//AAABAA=="/>
              </a:ext>
            </a:extLst>
          </p:cNvSpPr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b="1" cap="none" spc="40">
                <a:solidFill>
                  <a:srgbClr val="E0A038"/>
                </a:solidFill>
              </a:rPr>
              <a:t>DEFESA DE </a:t>
            </a:r>
            <a:r>
              <a:rPr lang="en-us" sz="1300" b="1" cap="none" spc="40">
                <a:solidFill>
                  <a:srgbClr val="E0A038"/>
                </a:solidFill>
              </a:rPr>
              <a:t>BANCA · </a:t>
            </a:r>
            <a:r>
              <a:rPr lang="en-us" sz="1300" b="1" cap="none" spc="40">
                <a:solidFill>
                  <a:srgbClr val="E0A038"/>
                </a:solidFill>
              </a:rPr>
              <a:t>SSP/</a:t>
            </a:r>
            <a:r>
              <a:rPr lang="en-us" sz="1300" b="1" cap="none" spc="40">
                <a:solidFill>
                  <a:srgbClr val="E0A038"/>
                </a:solidFill>
              </a:rPr>
              <a:t>SP · 2022–2026</a:t>
            </a:r>
            <a:endParaRPr lang="en-us" sz="1300" cap="none"/>
          </a:p>
        </p:txBody>
      </p:sp>
      <p:sp>
        <p:nvSpPr>
          <p:cNvPr id="5" name="Text 3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EALAADARQAA0BQAABAAAAAmAAAACAAAAP//////////MAAAABQAAAAAAAAAAAD//wAAAQAAAP//AAABAA=="/>
              </a:ext>
            </a:extLst>
          </p:cNvSpPr>
          <p:nvPr/>
        </p:nvSpPr>
        <p:spPr>
          <a:xfrm>
            <a:off x="548640" y="1828800"/>
            <a:ext cx="10789920" cy="1554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cap="none">
                <a:solidFill>
                  <a:srgbClr val="FFFFF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Análise </a:t>
            </a:r>
            <a:r>
              <a:rPr lang="en-us" sz="4000" b="1" cap="none">
                <a:solidFill>
                  <a:srgbClr val="FFFFF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espaço-temporal de crimes em </a:t>
            </a:r>
            <a:r>
              <a:rPr lang="en-us" sz="4000" b="1" cap="none">
                <a:solidFill>
                  <a:srgbClr val="FFFFF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São Paulo</a:t>
            </a:r>
            <a:endParaRPr lang="en-us" sz="4000" cap="none"/>
          </a:p>
        </p:txBody>
      </p:sp>
      <p:sp>
        <p:nvSpPr>
          <p:cNvPr id="6" name="Text 4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CMt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GAVAABAQQAAUBkAABAAAAAmAAAACAAAAP//////////MAAAABQAAAAAAAAAAAD//wAAAQAAAP//AAABAA=="/>
              </a:ext>
            </a:extLst>
          </p:cNvSpPr>
          <p:nvPr/>
        </p:nvSpPr>
        <p:spPr>
          <a:xfrm>
            <a:off x="548640" y="3474720"/>
            <a:ext cx="100584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2100" i="1" cap="none">
                <a:solidFill>
                  <a:srgbClr val="F6E2BC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Localização </a:t>
            </a:r>
            <a:r>
              <a:rPr lang="en-us" sz="2100" i="1" cap="none">
                <a:solidFill>
                  <a:srgbClr val="F6E2BC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ajuda </a:t>
            </a:r>
            <a:r>
              <a:rPr lang="en-us" sz="2100" i="1" cap="none">
                <a:solidFill>
                  <a:srgbClr val="F6E2BC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mais </a:t>
            </a:r>
            <a:r>
              <a:rPr lang="en-us" sz="2100" i="1" cap="none">
                <a:solidFill>
                  <a:srgbClr val="F6E2BC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quando junto do </a:t>
            </a:r>
            <a:r>
              <a:rPr lang="en-us" sz="2100" i="1" cap="none">
                <a:solidFill>
                  <a:srgbClr val="F6E2BC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horário?</a:t>
            </a:r>
            <a:endParaRPr lang="en-us" sz="21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BAgAABAQQAAUCIAABAAAAAmAAAACAAAAP//////////MAAAABQAAAAAAAAAAAD//wAAAQAAAP//AAABAA=="/>
              </a:ext>
            </a:extLst>
          </p:cNvSpPr>
          <p:nvPr/>
        </p:nvSpPr>
        <p:spPr>
          <a:xfrm>
            <a:off x="548640" y="5212080"/>
            <a:ext cx="100584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C7D4E2"/>
                </a:solidFill>
              </a:rPr>
              <a:t>Mapas  ·  </a:t>
            </a:r>
            <a:r>
              <a:rPr lang="en-us" sz="1400" cap="none">
                <a:solidFill>
                  <a:srgbClr val="C7D4E2"/>
                </a:solidFill>
              </a:rPr>
              <a:t>Clusterização  ·  </a:t>
            </a:r>
            <a:r>
              <a:rPr lang="en-us" sz="1400" cap="none">
                <a:solidFill>
                  <a:srgbClr val="C7D4E2"/>
                </a:solidFill>
              </a:rPr>
              <a:t>Modelo </a:t>
            </a:r>
            <a:r>
              <a:rPr lang="en-us" sz="1400" cap="none">
                <a:solidFill>
                  <a:srgbClr val="C7D4E2"/>
                </a:solidFill>
              </a:rPr>
              <a:t>preditivo  ·  </a:t>
            </a:r>
            <a:r>
              <a:rPr lang="en-us" sz="1400" cap="none">
                <a:solidFill>
                  <a:srgbClr val="C7D4E2"/>
                </a:solidFill>
              </a:rPr>
              <a:t>Protótipo de </a:t>
            </a:r>
            <a:r>
              <a:rPr lang="en-us" sz="1400" cap="none">
                <a:solidFill>
                  <a:srgbClr val="C7D4E2"/>
                </a:solidFill>
              </a:rPr>
              <a:t>URA do 190</a:t>
            </a:r>
            <a:endParaRPr lang="en-us" sz="1400" cap="none"/>
          </a:p>
        </p:txBody>
      </p:sp>
      <p:sp>
        <p:nvSpPr>
          <p:cNvPr id="8" name="Text 6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JAkAAAQRAAA0CYAABAAAAAmAAAACAAAAP//////////MAAAABQAAAAAAAAAAAD//wAAAQAAAP//AAABAA=="/>
              </a:ext>
            </a:extLst>
          </p:cNvSpPr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5B7691"/>
                </a:solidFill>
              </a:rPr>
              <a:t>Apresentadores: ______________   ·   ______________   ·   ______________</a:t>
            </a:r>
            <a:endParaRPr lang="en-us" sz="1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CABAACgRwAA0AIAABAAAAAmAAAACAAAAP//////////MAAAABQAAAAAAAAAAAD//wAAAQAAAP//AAABAA=="/>
              </a:ext>
            </a:extLst>
          </p:cNvSpPr>
          <p:nvPr/>
        </p:nvSpPr>
        <p:spPr>
          <a:xfrm>
            <a:off x="548640" y="182880"/>
            <a:ext cx="1109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b="1" cap="none" spc="40">
                <a:solidFill>
                  <a:srgbClr val="E0A038"/>
                </a:solidFill>
              </a:rPr>
              <a:t>O </a:t>
            </a:r>
            <a:r>
              <a:rPr lang="en-us" sz="1200" b="1" cap="none" spc="40">
                <a:solidFill>
                  <a:srgbClr val="E0A038"/>
                </a:solidFill>
              </a:rPr>
              <a:t>PROBLEMA</a:t>
            </a:r>
            <a:endParaRPr lang="en-us" sz="12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F0CAACgRwAA3QYAABAAAAAmAAAACAAAAP//////////MAAAABQAAAAAAAAAAAD//wAAAQAAAP//AAABAA=="/>
              </a:ext>
            </a:extLst>
          </p:cNvSpPr>
          <p:nvPr/>
        </p:nvSpPr>
        <p:spPr>
          <a:xfrm>
            <a:off x="548640" y="384175"/>
            <a:ext cx="1109472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A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pergunta do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trabalho</a:t>
            </a:r>
            <a:endParaRPr lang="en-us" sz="30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AAJAACAKAAAUCIAABAAAAAmAAAACAAAAP//////////MAAAABQAAAAAAAAAAAD//wAAAQAAAP//AAABAA=="/>
              </a:ext>
            </a:extLst>
          </p:cNvSpPr>
          <p:nvPr/>
        </p:nvSpPr>
        <p:spPr>
          <a:xfrm>
            <a:off x="548640" y="1463040"/>
            <a:ext cx="603504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177800" indent="-177800" algn="l">
              <a:spcAft>
                <a:spcPts val="800"/>
              </a:spcAft>
              <a:buSzTx/>
              <a:buChar char="•"/>
            </a:pPr>
            <a:r>
              <a:rPr lang="en-us" sz="1600" cap="none">
                <a:solidFill>
                  <a:srgbClr val="283441"/>
                </a:solidFill>
              </a:rPr>
              <a:t>Um </a:t>
            </a:r>
            <a:r>
              <a:rPr lang="en-us" sz="1600" cap="none">
                <a:solidFill>
                  <a:srgbClr val="283441"/>
                </a:solidFill>
              </a:rPr>
              <a:t>mapa </a:t>
            </a:r>
            <a:r>
              <a:rPr lang="en-us" sz="1600" cap="none">
                <a:solidFill>
                  <a:srgbClr val="283441"/>
                </a:solidFill>
              </a:rPr>
              <a:t>só </a:t>
            </a:r>
            <a:r>
              <a:rPr lang="en-us" sz="1600" cap="none">
                <a:solidFill>
                  <a:srgbClr val="283441"/>
                </a:solidFill>
              </a:rPr>
              <a:t>com latitude e longitude </a:t>
            </a:r>
            <a:r>
              <a:rPr lang="en-us" sz="1600" cap="none">
                <a:solidFill>
                  <a:srgbClr val="283441"/>
                </a:solidFill>
              </a:rPr>
              <a:t>acende </a:t>
            </a:r>
            <a:r>
              <a:rPr lang="en-us" sz="1600" cap="none">
                <a:solidFill>
                  <a:srgbClr val="283441"/>
                </a:solidFill>
              </a:rPr>
              <a:t>quase sempre as </a:t>
            </a:r>
            <a:r>
              <a:rPr lang="en-us" sz="1600" cap="none">
                <a:solidFill>
                  <a:srgbClr val="283441"/>
                </a:solidFill>
              </a:rPr>
              <a:t>mesmas </a:t>
            </a:r>
            <a:r>
              <a:rPr lang="en-us" sz="1600" cap="none">
                <a:solidFill>
                  <a:srgbClr val="283441"/>
                </a:solidFill>
              </a:rPr>
              <a:t>áreas: Centro, </a:t>
            </a:r>
            <a:r>
              <a:rPr lang="en-us" sz="1600" cap="none">
                <a:solidFill>
                  <a:srgbClr val="283441"/>
                </a:solidFill>
              </a:rPr>
              <a:t>Avenida </a:t>
            </a:r>
            <a:r>
              <a:rPr lang="en-us" sz="1600" cap="none">
                <a:solidFill>
                  <a:srgbClr val="283441"/>
                </a:solidFill>
              </a:rPr>
              <a:t>Paulista, </a:t>
            </a:r>
            <a:r>
              <a:rPr lang="en-us" sz="1600" cap="none">
                <a:solidFill>
                  <a:srgbClr val="283441"/>
                </a:solidFill>
              </a:rPr>
              <a:t>corredores </a:t>
            </a:r>
            <a:r>
              <a:rPr lang="en-us" sz="1600" cap="none">
                <a:solidFill>
                  <a:srgbClr val="283441"/>
                </a:solidFill>
              </a:rPr>
              <a:t>comerciais — </a:t>
            </a:r>
            <a:r>
              <a:rPr lang="en-us" sz="1600" cap="none">
                <a:solidFill>
                  <a:srgbClr val="283441"/>
                </a:solidFill>
              </a:rPr>
              <a:t>para </a:t>
            </a:r>
            <a:r>
              <a:rPr lang="en-us" sz="1600" cap="none">
                <a:solidFill>
                  <a:srgbClr val="283441"/>
                </a:solidFill>
              </a:rPr>
              <a:t>quase </a:t>
            </a:r>
            <a:r>
              <a:rPr lang="en-us" sz="1600" cap="none">
                <a:solidFill>
                  <a:srgbClr val="283441"/>
                </a:solidFill>
              </a:rPr>
              <a:t>todo </a:t>
            </a:r>
            <a:r>
              <a:rPr lang="en-us" sz="1600" cap="none">
                <a:solidFill>
                  <a:srgbClr val="283441"/>
                </a:solidFill>
              </a:rPr>
              <a:t>tipo de </a:t>
            </a:r>
            <a:r>
              <a:rPr lang="en-us" sz="1600" cap="none">
                <a:solidFill>
                  <a:srgbClr val="283441"/>
                </a:solidFill>
              </a:rPr>
              <a:t>crime.Isso </a:t>
            </a:r>
            <a:r>
              <a:rPr lang="en-us" sz="1600" cap="none">
                <a:solidFill>
                  <a:srgbClr val="283441"/>
                </a:solidFill>
              </a:rPr>
              <a:t>mede </a:t>
            </a:r>
            <a:r>
              <a:rPr lang="en-us" sz="1600" cap="none">
                <a:solidFill>
                  <a:srgbClr val="283441"/>
                </a:solidFill>
              </a:rPr>
              <a:t>onde </a:t>
            </a:r>
            <a:r>
              <a:rPr lang="en-us" sz="1600" cap="none">
                <a:solidFill>
                  <a:srgbClr val="283441"/>
                </a:solidFill>
              </a:rPr>
              <a:t>há </a:t>
            </a:r>
            <a:r>
              <a:rPr lang="en-us" sz="1600" cap="none">
                <a:solidFill>
                  <a:srgbClr val="283441"/>
                </a:solidFill>
              </a:rPr>
              <a:t>mais </a:t>
            </a:r>
            <a:r>
              <a:rPr lang="en-us" sz="1600" cap="none">
                <a:solidFill>
                  <a:srgbClr val="283441"/>
                </a:solidFill>
              </a:rPr>
              <a:t>registro e </a:t>
            </a:r>
            <a:r>
              <a:rPr lang="en-us" sz="1600" cap="none">
                <a:solidFill>
                  <a:srgbClr val="283441"/>
                </a:solidFill>
              </a:rPr>
              <a:t>circulação de </a:t>
            </a:r>
            <a:r>
              <a:rPr lang="en-us" sz="1600" cap="none">
                <a:solidFill>
                  <a:srgbClr val="283441"/>
                </a:solidFill>
              </a:rPr>
              <a:t>pessoas — </a:t>
            </a:r>
            <a:r>
              <a:rPr lang="en-us" sz="1600" cap="none">
                <a:solidFill>
                  <a:srgbClr val="283441"/>
                </a:solidFill>
              </a:rPr>
              <a:t>não o </a:t>
            </a:r>
            <a:r>
              <a:rPr lang="en-us" sz="1600" cap="none">
                <a:solidFill>
                  <a:srgbClr val="283441"/>
                </a:solidFill>
              </a:rPr>
              <a:t>risco de </a:t>
            </a:r>
            <a:r>
              <a:rPr lang="en-us" sz="1600" cap="none">
                <a:solidFill>
                  <a:srgbClr val="283441"/>
                </a:solidFill>
              </a:rPr>
              <a:t>quem </a:t>
            </a:r>
            <a:r>
              <a:rPr lang="en-us" sz="1600" cap="none">
                <a:solidFill>
                  <a:srgbClr val="283441"/>
                </a:solidFill>
              </a:rPr>
              <a:t>mora </a:t>
            </a:r>
            <a:r>
              <a:rPr lang="en-us" sz="1600" cap="none">
                <a:solidFill>
                  <a:srgbClr val="283441"/>
                </a:solidFill>
              </a:rPr>
              <a:t>ali.Pergunta: </a:t>
            </a:r>
            <a:r>
              <a:rPr lang="en-us" sz="1600" cap="none">
                <a:solidFill>
                  <a:srgbClr val="283441"/>
                </a:solidFill>
              </a:rPr>
              <a:t>incluir o </a:t>
            </a:r>
            <a:r>
              <a:rPr lang="en-us" sz="1600" cap="none">
                <a:solidFill>
                  <a:srgbClr val="283441"/>
                </a:solidFill>
              </a:rPr>
              <a:t>horário </a:t>
            </a:r>
            <a:r>
              <a:rPr lang="en-us" sz="1600" cap="none">
                <a:solidFill>
                  <a:srgbClr val="283441"/>
                </a:solidFill>
              </a:rPr>
              <a:t>ajuda a </a:t>
            </a:r>
            <a:r>
              <a:rPr lang="en-us" sz="1600" cap="none">
                <a:solidFill>
                  <a:srgbClr val="283441"/>
                </a:solidFill>
              </a:rPr>
              <a:t>separar </a:t>
            </a:r>
            <a:r>
              <a:rPr lang="en-us" sz="1600" cap="none">
                <a:solidFill>
                  <a:srgbClr val="283441"/>
                </a:solidFill>
              </a:rPr>
              <a:t>melhor </a:t>
            </a:r>
            <a:r>
              <a:rPr lang="en-us" sz="1600" cap="none">
                <a:solidFill>
                  <a:srgbClr val="283441"/>
                </a:solidFill>
              </a:rPr>
              <a:t>os </a:t>
            </a:r>
            <a:r>
              <a:rPr lang="en-us" sz="1600" cap="none">
                <a:solidFill>
                  <a:srgbClr val="283441"/>
                </a:solidFill>
              </a:rPr>
              <a:t>tipos de </a:t>
            </a:r>
            <a:r>
              <a:rPr lang="en-us" sz="1600" cap="none">
                <a:solidFill>
                  <a:srgbClr val="283441"/>
                </a:solidFill>
              </a:rPr>
              <a:t>ocorrência?</a:t>
            </a:r>
            <a:endParaRPr lang="en-us" sz="1600" cap="none">
              <a:solidFill>
                <a:srgbClr val="283441"/>
              </a:solidFill>
            </a:endParaRPr>
          </a:p>
        </p:txBody>
      </p:sp>
      <p:sp>
        <p:nvSpPr>
          <p:cNvPr id="5" name="Shape 3"/>
          <p:cNvSpPr>
            <a:extLst>
              <a:ext uri="smNativeData">
                <pr:smNativeData xmlns:pr="smNativeData" xmlns="smNativeData" val="SMDATA_16_kRU2ahMAAAAlAAAAZQAAAA0AAAAAkAAAAEgAAACQAAAASAAAAAAAAAAAAAAAAAAAAAEAAABQAAAA8UbmkT8YqD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P/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AAAAAB/f38AucTQAMvLywDAwP8Af39/AAAAAAAAAAAAAAAAAAAAAAAAAAAAIQAAABgAAAAUAAAAUCsAALAKAABwRwAA0B0AABAAAAAmAAAACAAAAP//////////MAAAABQAAAAAAAAAAAD//wAAAQAAAP//AAABAA=="/>
              </a:ext>
            </a:extLst>
          </p:cNvSpPr>
          <p:nvPr/>
        </p:nvSpPr>
        <p:spPr>
          <a:xfrm>
            <a:off x="7040880" y="1737360"/>
            <a:ext cx="4572000" cy="3108960"/>
          </a:xfrm>
          <a:prstGeom prst="roundRect">
            <a:avLst>
              <a:gd name="adj" fmla="val 2353"/>
            </a:avLst>
          </a:prstGeom>
          <a:solidFill>
            <a:srgbClr val="EFF3F8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DAwP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CsAAJAJAACAMQAAMA8AABAAAAAmAAAACAAAAP//////////MAAAABQAAAAAAAAAAAD//wAAAQAAAP//AAABAA=="/>
              </a:ext>
            </a:extLst>
          </p:cNvSpPr>
          <p:nvPr/>
        </p:nvSpPr>
        <p:spPr>
          <a:xfrm>
            <a:off x="7132320" y="1554480"/>
            <a:ext cx="9144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6000" b="1" cap="none">
                <a:solidFill>
                  <a:srgbClr val="E0A038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“</a:t>
            </a:r>
            <a:endParaRPr lang="en-us" sz="60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C0AADAPAADARQAAUBkAABAAAAAmAAAACAAAAP//////////MAAAABQAAAAAAAAAAAD//wAAAQAAAP//AAABAA=="/>
              </a:ext>
            </a:extLst>
          </p:cNvSpPr>
          <p:nvPr/>
        </p:nvSpPr>
        <p:spPr>
          <a:xfrm>
            <a:off x="7315200" y="2468880"/>
            <a:ext cx="4023360" cy="1645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indent="0">
              <a:buNone/>
            </a:pPr>
            <a:r>
              <a:rPr lang="en-us" sz="2000" i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O </a:t>
            </a:r>
            <a:r>
              <a:rPr lang="en-us" sz="2000" i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mapa </a:t>
            </a:r>
            <a:r>
              <a:rPr lang="en-us" sz="2000" i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sozinho </a:t>
            </a:r>
            <a:r>
              <a:rPr lang="en-us" sz="2000" i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mede </a:t>
            </a:r>
            <a:r>
              <a:rPr lang="en-us" sz="2000" i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circulação e </a:t>
            </a:r>
            <a:r>
              <a:rPr lang="en-us" sz="2000" i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registro, </a:t>
            </a:r>
            <a:r>
              <a:rPr lang="en-us" sz="2000" i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não </a:t>
            </a:r>
            <a:r>
              <a:rPr lang="en-us" sz="2000" i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risco </a:t>
            </a:r>
            <a:r>
              <a:rPr lang="en-us" sz="2000" i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por </a:t>
            </a:r>
            <a:r>
              <a:rPr lang="en-us" sz="2000" i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morador.</a:t>
            </a:r>
            <a:endParaRPr lang="en-us" sz="2000" cap="none"/>
          </a:p>
        </p:txBody>
      </p:sp>
      <p:sp>
        <p:nvSpPr>
          <p:cNvPr id="8" name="Text 6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C0AAMAYAADARQAAIBwAABAAAAAmAAAACAAAAP//////////MAAAABQAAAAAAAAAAAD//wAAAQAAAP//AAABAA=="/>
              </a:ext>
            </a:extLst>
          </p:cNvSpPr>
          <p:nvPr/>
        </p:nvSpPr>
        <p:spPr>
          <a:xfrm>
            <a:off x="7315200" y="4023360"/>
            <a:ext cx="402336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5B7691"/>
                </a:solidFill>
              </a:rPr>
              <a:t>É </a:t>
            </a:r>
            <a:r>
              <a:rPr lang="en-us" sz="1300" cap="none">
                <a:solidFill>
                  <a:srgbClr val="5B7691"/>
                </a:solidFill>
              </a:rPr>
              <a:t>esse o </a:t>
            </a:r>
            <a:r>
              <a:rPr lang="en-us" sz="1300" cap="none">
                <a:solidFill>
                  <a:srgbClr val="5B7691"/>
                </a:solidFill>
              </a:rPr>
              <a:t>ponto </a:t>
            </a:r>
            <a:r>
              <a:rPr lang="en-us" sz="1300" cap="none">
                <a:solidFill>
                  <a:srgbClr val="5B7691"/>
                </a:solidFill>
              </a:rPr>
              <a:t>que o </a:t>
            </a:r>
            <a:r>
              <a:rPr lang="en-us" sz="1300" cap="none">
                <a:solidFill>
                  <a:srgbClr val="5B7691"/>
                </a:solidFill>
              </a:rPr>
              <a:t>trabalho </a:t>
            </a:r>
            <a:r>
              <a:rPr lang="en-us" sz="1300" cap="none">
                <a:solidFill>
                  <a:srgbClr val="5B7691"/>
                </a:solidFill>
              </a:rPr>
              <a:t>investiga.</a:t>
            </a:r>
            <a:endParaRPr lang="en-us" sz="13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CABAACgRwAA0AIAABAAAAAmAAAACAAAAP//////////MAAAABQAAAAAAAAAAAD//wAAAQAAAP//AAABAA=="/>
              </a:ext>
            </a:extLst>
          </p:cNvSpPr>
          <p:nvPr/>
        </p:nvSpPr>
        <p:spPr>
          <a:xfrm>
            <a:off x="548640" y="182880"/>
            <a:ext cx="1109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b="1" cap="none" spc="40">
                <a:solidFill>
                  <a:srgbClr val="E0A038"/>
                </a:solidFill>
              </a:rPr>
              <a:t>BASE DE DADOS</a:t>
            </a:r>
            <a:endParaRPr lang="en-us" sz="12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F0CAACgRwAA3QYAABAAAAAmAAAACAAAAP//////////MAAAABQAAAAAAAAAAAD//wAAAQAAAP//AAABAA=="/>
              </a:ext>
            </a:extLst>
          </p:cNvSpPr>
          <p:nvPr/>
        </p:nvSpPr>
        <p:spPr>
          <a:xfrm>
            <a:off x="548640" y="384175"/>
            <a:ext cx="1109472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Dados e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filtros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6_kRU2ahMAAAAlAAAAZQAAAA0AAAAAkAAAAEgAAACQAAAASAAAAAAAAAAAAAAAAAAAAAEAAABQAAAAkpbK2xFOuz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GBPjjs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AAAAAB/f38AucTQAMvLywDAwP8Af39/AAAAAAAAAAAAAAAAAAAAAAAAAAAAIQAAABgAAAAUAAAAYAMAALgIAAAIGQAAKBEAABAAAAAmAAAACAAAAP//////////MAAAABQAAAAAAAAAAAD//wAAAQAAAP//AAABAA=="/>
              </a:ext>
            </a:extLst>
          </p:cNvSpPr>
          <p:nvPr/>
        </p:nvSpPr>
        <p:spPr>
          <a:xfrm>
            <a:off x="548640" y="14173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FF3F8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JnZX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nQQAADoJAAC9FwAAAg4AABAAAAAmAAAACAAAAP//////////MAAAABQAAAAAAAAAAAD//wAAAQAAAP//AAABAA=="/>
              </a:ext>
            </a:extLst>
          </p:cNvSpPr>
          <p:nvPr/>
        </p:nvSpPr>
        <p:spPr>
          <a:xfrm>
            <a:off x="749935" y="1499870"/>
            <a:ext cx="3108960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l">
              <a:buNone/>
            </a:pPr>
            <a:r>
              <a:rPr lang="en-us" sz="3400" b="1" cap="none">
                <a:solidFill>
                  <a:srgbClr val="E0A038"/>
                </a:solidFill>
              </a:rPr>
              <a:t>2,08 mi</a:t>
            </a:r>
            <a:endParaRPr lang="en-us" sz="3400" cap="none"/>
          </a:p>
        </p:txBody>
      </p:sp>
      <p:sp>
        <p:nvSpPr>
          <p:cNvPr id="6" name="Text 4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0iZW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gQAANYNAAAiGAAAphAAABAAAAAmAAAACAAAAP//////////MAAAABQAAAAAAAAAAAD//wAAAQAAAP//AAABAA=="/>
              </a:ext>
            </a:extLst>
          </p:cNvSpPr>
          <p:nvPr/>
        </p:nvSpPr>
        <p:spPr>
          <a:xfrm>
            <a:off x="768350" y="2249170"/>
            <a:ext cx="315468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l">
              <a:buNone/>
            </a:pPr>
            <a:r>
              <a:rPr lang="en-us" sz="1200" cap="none">
                <a:solidFill>
                  <a:srgbClr val="5B7691"/>
                </a:solidFill>
              </a:rPr>
              <a:t>ocorrências </a:t>
            </a:r>
            <a:r>
              <a:rPr lang="en-us" sz="1200" cap="none">
                <a:solidFill>
                  <a:srgbClr val="5B7691"/>
                </a:solidFill>
              </a:rPr>
              <a:t>após a </a:t>
            </a:r>
            <a:r>
              <a:rPr lang="en-us" sz="1200" cap="none">
                <a:solidFill>
                  <a:srgbClr val="5B7691"/>
                </a:solidFill>
              </a:rPr>
              <a:t>limpeza</a:t>
            </a:r>
            <a:endParaRPr lang="en-us" sz="1200" cap="none"/>
          </a:p>
        </p:txBody>
      </p:sp>
      <p:sp>
        <p:nvSpPr>
          <p:cNvPr id="7" name="Shape 5"/>
          <p:cNvSpPr>
            <a:extLst>
              <a:ext uri="smNativeData">
                <pr:smNativeData xmlns:pr="smNativeData" xmlns="smNativeData" val="SMDATA_16_kRU2ahMAAAAlAAAAZQAAAA0AAAAAkAAAAEgAAACQAAAASAAAAAAAAAAAAAAAAAAAAAEAAABQAAAAkpbK2xFOuz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G9sPSI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AAAAAB/f38AucTQAMvLywDAwP8Af39/AAAAAAAAAAAAAAAAAAAAAAAAAAAAIQAAABgAAAAUAAAAGhoAALgIAADCLwAAKBEAABAAAAAmAAAACAAAAP//////////MAAAABQAAAAAAAAAAAD//wAAAQAAAP//AAABAA=="/>
              </a:ext>
            </a:extLst>
          </p:cNvSpPr>
          <p:nvPr/>
        </p:nvSpPr>
        <p:spPr>
          <a:xfrm>
            <a:off x="4243070" y="14173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FF3F8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8" name="Text 6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NvYX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VhsAADoJAAB2LgAAAg4AABAAAAAmAAAACAAAAP//////////MAAAABQAAAAAAAAAAAD//wAAAQAAAP//AAABAA=="/>
              </a:ext>
            </a:extLst>
          </p:cNvSpPr>
          <p:nvPr/>
        </p:nvSpPr>
        <p:spPr>
          <a:xfrm>
            <a:off x="4443730" y="1499870"/>
            <a:ext cx="3108960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l">
              <a:buNone/>
            </a:pPr>
            <a:r>
              <a:rPr lang="en-us" sz="3400" b="1" cap="none">
                <a:solidFill>
                  <a:srgbClr val="E0A038"/>
                </a:solidFill>
              </a:rPr>
              <a:t>24</a:t>
            </a:r>
            <a:endParaRPr lang="en-us" sz="3400" cap="none"/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xyIH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xsAANYNAADbLgAAphAAABAAAAAmAAAACAAAAP//////////MAAAABQAAAAAAAAAAAD//wAAAQAAAP//AAABAA=="/>
              </a:ext>
            </a:extLst>
          </p:cNvSpPr>
          <p:nvPr/>
        </p:nvSpPr>
        <p:spPr>
          <a:xfrm>
            <a:off x="4462145" y="2249170"/>
            <a:ext cx="315468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l">
              <a:buNone/>
            </a:pPr>
            <a:r>
              <a:rPr lang="en-us" sz="1200" cap="none">
                <a:solidFill>
                  <a:srgbClr val="5B7691"/>
                </a:solidFill>
              </a:rPr>
              <a:t>naturezas </a:t>
            </a:r>
            <a:r>
              <a:rPr lang="en-us" sz="1200" cap="none">
                <a:solidFill>
                  <a:srgbClr val="5B7691"/>
                </a:solidFill>
              </a:rPr>
              <a:t>na base </a:t>
            </a:r>
            <a:r>
              <a:rPr lang="en-us" sz="1200" cap="none">
                <a:solidFill>
                  <a:srgbClr val="5B7691"/>
                </a:solidFill>
              </a:rPr>
              <a:t>limpa</a:t>
            </a:r>
            <a:endParaRPr lang="en-us" sz="1200" cap="none"/>
          </a:p>
        </p:txBody>
      </p:sp>
      <p:sp>
        <p:nvSpPr>
          <p:cNvPr id="10" name="Shape 8"/>
          <p:cNvSpPr>
            <a:extLst>
              <a:ext uri="smNativeData">
                <pr:smNativeData xmlns:pr="smNativeData" xmlns="smNativeData" val="SMDATA_16_kRU2ahMAAAAlAAAAZQAAAA0AAAAAkAAAAEgAAACQAAAASAAAAAAAAAAAAAAAAAAAAAEAAABQAAAAkpbK2xFOuz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Dpsbj4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AAAAAB/f38AucTQAMvLywDAwP8Af39/AAAAAAAAAAAAAAAAAAAAAAAAAAAAIQAAABgAAAAUAAAA0zAAALgIAAB7RgAAKBEAABAAAAAmAAAACAAAAP//////////MAAAABQAAAAAAAAAAAD//wAAAQAAAP//AAABAA=="/>
              </a:ext>
            </a:extLst>
          </p:cNvSpPr>
          <p:nvPr/>
        </p:nvSpPr>
        <p:spPr>
          <a:xfrm>
            <a:off x="7936865" y="14173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FF3F8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11" name="Text 9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k9Ij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DIAADoJAAAwRQAAAg4AABAAAAAmAAAACAAAAP//////////MAAAABQAAAAAAAAAAAD//wAAAQAAAP//AAABAA=="/>
              </a:ext>
            </a:extLst>
          </p:cNvSpPr>
          <p:nvPr/>
        </p:nvSpPr>
        <p:spPr>
          <a:xfrm>
            <a:off x="8138160" y="1499870"/>
            <a:ext cx="3108960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l">
              <a:buNone/>
            </a:pPr>
            <a:r>
              <a:rPr lang="en-us" sz="3400" b="1" cap="none">
                <a:solidFill>
                  <a:srgbClr val="13314F"/>
                </a:solidFill>
              </a:rPr>
              <a:t>20</a:t>
            </a:r>
            <a:endParaRPr lang="en-us" sz="3400" cap="none"/>
          </a:p>
        </p:txBody>
      </p:sp>
      <p:sp>
        <p:nvSpPr>
          <p:cNvPr id="12" name="Text 10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U9Im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LTIAANYNAACVRQAAphAAABAAAAAmAAAACAAAAP//////////MAAAABQAAAAAAAAAAAD//wAAAQAAAP//AAABAA=="/>
              </a:ext>
            </a:extLst>
          </p:cNvSpPr>
          <p:nvPr/>
        </p:nvSpPr>
        <p:spPr>
          <a:xfrm>
            <a:off x="8156575" y="2249170"/>
            <a:ext cx="315468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l">
              <a:buNone/>
            </a:pPr>
            <a:r>
              <a:rPr lang="en-us" sz="1200" cap="none">
                <a:solidFill>
                  <a:srgbClr val="5B7691"/>
                </a:solidFill>
              </a:rPr>
              <a:t>classes no </a:t>
            </a:r>
            <a:r>
              <a:rPr lang="en-us" sz="1200" cap="none">
                <a:solidFill>
                  <a:srgbClr val="5B7691"/>
                </a:solidFill>
              </a:rPr>
              <a:t>modelo (</a:t>
            </a:r>
            <a:r>
              <a:rPr lang="en-us" sz="1200" cap="none">
                <a:solidFill>
                  <a:srgbClr val="5B7691"/>
                </a:solidFill>
              </a:rPr>
              <a:t>após </a:t>
            </a:r>
            <a:r>
              <a:rPr lang="en-us" sz="1200" cap="none">
                <a:solidFill>
                  <a:srgbClr val="5B7691"/>
                </a:solidFill>
              </a:rPr>
              <a:t>filtros)</a:t>
            </a:r>
            <a:endParaRPr lang="en-us" sz="1200" cap="none"/>
          </a:p>
        </p:txBody>
      </p:sp>
      <p:sp>
        <p:nvSpPr>
          <p:cNvPr id="13" name="Text 11"/>
          <p:cNvSpPr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GgTAABgJwAA+CUAAAAAAAAmAAAACAAAAP//////////MAAAABQAAAAAAAAAAAD//wAAAQAAAP//AAABAA=="/>
              </a:ext>
            </a:extLst>
          </p:cNvSpPr>
          <p:nvPr/>
        </p:nvSpPr>
        <p:spPr>
          <a:xfrm>
            <a:off x="548640" y="3154680"/>
            <a:ext cx="5852160" cy="3017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177800" indent="-177800" algn="l">
              <a:spcAft>
                <a:spcPts val="800"/>
              </a:spcAft>
              <a:buSzTx/>
              <a:buChar char="•"/>
            </a:pPr>
            <a:r>
              <a:rPr lang="en-us" sz="1500" cap="none">
                <a:solidFill>
                  <a:srgbClr val="283441"/>
                </a:solidFill>
              </a:rPr>
              <a:t>SSP/</a:t>
            </a:r>
            <a:r>
              <a:rPr lang="en-us" sz="1500" cap="none">
                <a:solidFill>
                  <a:srgbClr val="283441"/>
                </a:solidFill>
              </a:rPr>
              <a:t>SP, </a:t>
            </a:r>
            <a:r>
              <a:rPr lang="en-us" sz="1500" cap="none">
                <a:solidFill>
                  <a:srgbClr val="283441"/>
                </a:solidFill>
              </a:rPr>
              <a:t>município de </a:t>
            </a:r>
            <a:r>
              <a:rPr lang="en-us" sz="1500" cap="none">
                <a:solidFill>
                  <a:srgbClr val="283441"/>
                </a:solidFill>
              </a:rPr>
              <a:t>São Paulo, 2022–2026 (</a:t>
            </a:r>
            <a:r>
              <a:rPr lang="en-us" sz="1500" cap="none">
                <a:solidFill>
                  <a:srgbClr val="283441"/>
                </a:solidFill>
              </a:rPr>
              <a:t>corte 29/04/2026).</a:t>
            </a:r>
            <a:r>
              <a:rPr lang="en-us" sz="1500" cap="none">
                <a:solidFill>
                  <a:srgbClr val="283441"/>
                </a:solidFill>
              </a:rPr>
              <a:t>Modelo </a:t>
            </a:r>
            <a:r>
              <a:rPr lang="en-us" sz="1500" cap="none">
                <a:solidFill>
                  <a:srgbClr val="283441"/>
                </a:solidFill>
              </a:rPr>
              <a:t>usa </a:t>
            </a:r>
            <a:r>
              <a:rPr lang="en-us" sz="1500" cap="none">
                <a:solidFill>
                  <a:srgbClr val="283441"/>
                </a:solidFill>
              </a:rPr>
              <a:t>só </a:t>
            </a:r>
            <a:r>
              <a:rPr lang="en-us" sz="1500" cap="none">
                <a:solidFill>
                  <a:srgbClr val="283441"/>
                </a:solidFill>
              </a:rPr>
              <a:t>registros </a:t>
            </a:r>
            <a:r>
              <a:rPr lang="en-us" sz="1500" cap="none">
                <a:solidFill>
                  <a:srgbClr val="283441"/>
                </a:solidFill>
              </a:rPr>
              <a:t>com </a:t>
            </a:r>
            <a:r>
              <a:rPr lang="en-us" sz="1500" cap="none">
                <a:solidFill>
                  <a:srgbClr val="283441"/>
                </a:solidFill>
              </a:rPr>
              <a:t>coordenada </a:t>
            </a:r>
            <a:r>
              <a:rPr lang="en-us" sz="1500" cap="none">
                <a:solidFill>
                  <a:srgbClr val="283441"/>
                </a:solidFill>
              </a:rPr>
              <a:t>válida e hora </a:t>
            </a:r>
            <a:r>
              <a:rPr lang="en-us" sz="1500" cap="none">
                <a:solidFill>
                  <a:srgbClr val="283441"/>
                </a:solidFill>
              </a:rPr>
              <a:t>exata.Classes </a:t>
            </a:r>
            <a:r>
              <a:rPr lang="en-us" sz="1500" cap="none">
                <a:solidFill>
                  <a:srgbClr val="283441"/>
                </a:solidFill>
              </a:rPr>
              <a:t>muito </a:t>
            </a:r>
            <a:r>
              <a:rPr lang="en-us" sz="1500" cap="none">
                <a:solidFill>
                  <a:srgbClr val="283441"/>
                </a:solidFill>
              </a:rPr>
              <a:t>raras </a:t>
            </a:r>
            <a:r>
              <a:rPr lang="en-us" sz="1500" cap="none">
                <a:solidFill>
                  <a:srgbClr val="283441"/>
                </a:solidFill>
              </a:rPr>
              <a:t>saem </a:t>
            </a:r>
            <a:r>
              <a:rPr lang="en-us" sz="1500" cap="none">
                <a:solidFill>
                  <a:srgbClr val="283441"/>
                </a:solidFill>
              </a:rPr>
              <a:t>para </a:t>
            </a:r>
            <a:r>
              <a:rPr lang="en-us" sz="1500" cap="none">
                <a:solidFill>
                  <a:srgbClr val="283441"/>
                </a:solidFill>
              </a:rPr>
              <a:t>permitir </a:t>
            </a:r>
            <a:r>
              <a:rPr lang="en-us" sz="1500" cap="none">
                <a:solidFill>
                  <a:srgbClr val="283441"/>
                </a:solidFill>
              </a:rPr>
              <a:t>avaliação </a:t>
            </a:r>
            <a:r>
              <a:rPr lang="en-us" sz="1500" cap="none">
                <a:solidFill>
                  <a:srgbClr val="283441"/>
                </a:solidFill>
              </a:rPr>
              <a:t>estratificada.</a:t>
            </a:r>
            <a:endParaRPr lang="en-us" sz="1500" cap="none">
              <a:solidFill>
                <a:srgbClr val="283441"/>
              </a:solidFill>
            </a:endParaRPr>
          </a:p>
          <a:p>
            <a:pPr marL="177800" indent="-177800" algn="l">
              <a:spcAft>
                <a:spcPts val="800"/>
              </a:spcAft>
              <a:buSzTx/>
              <a:buChar char="•"/>
            </a:pPr>
            <a:r>
              <a:rPr lang="en-us" sz="1500" b="1" cap="none">
                <a:solidFill>
                  <a:srgbClr val="283441"/>
                </a:solidFill>
              </a:rPr>
              <a:t>Forte </a:t>
            </a:r>
            <a:r>
              <a:rPr lang="en-us" sz="1500" b="1" cap="none">
                <a:solidFill>
                  <a:srgbClr val="283441"/>
                </a:solidFill>
              </a:rPr>
              <a:t>desbalanceamento: </a:t>
            </a:r>
            <a:r>
              <a:rPr lang="en-us" sz="1500" b="1" cap="none">
                <a:solidFill>
                  <a:srgbClr val="283441"/>
                </a:solidFill>
              </a:rPr>
              <a:t>Furto + </a:t>
            </a:r>
            <a:r>
              <a:rPr lang="en-us" sz="1500" b="1" cap="none">
                <a:solidFill>
                  <a:srgbClr val="283441"/>
                </a:solidFill>
              </a:rPr>
              <a:t>Roubo ≈ 75% </a:t>
            </a:r>
            <a:r>
              <a:rPr lang="en-us" sz="1500" b="1" cap="none">
                <a:solidFill>
                  <a:srgbClr val="283441"/>
                </a:solidFill>
              </a:rPr>
              <a:t>das </a:t>
            </a:r>
            <a:r>
              <a:rPr lang="en-us" sz="1500" b="1" cap="none">
                <a:solidFill>
                  <a:srgbClr val="283441"/>
                </a:solidFill>
              </a:rPr>
              <a:t>ocorrências.</a:t>
            </a:r>
            <a:endParaRPr lang="en-us" sz="1500" cap="none">
              <a:solidFill>
                <a:srgbClr val="283441"/>
              </a:solidFill>
            </a:endParaRPr>
          </a:p>
        </p:txBody>
      </p:sp>
      <p:sp>
        <p:nvSpPr>
          <p:cNvPr id="14" name="Shape 12"/>
          <p:cNvSpPr>
            <a:extLst>
              <a:ext uri="smNativeData">
                <pr:smNativeData xmlns:pr="smNativeData" xmlns="smNativeData" val="SMDATA_16_kRU2ahMAAAAlAAAAZQAAAA0AAAAAkAAAAEgAAACQAAAASAAAAAAAAAAAAAAAAAAAAAEAAABQAAAAc4Bgjh6/pz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AAAAAB/f38AucTQAMvLywDAwP8Af39/AAAAAAAAAAAAAAAAAAAAAAAAAAAAIQAAABgAAAAUAAAAECkAACATAABwRwAAiCYAABAAAAAmAAAACAAAAP//////////MAAAABQAAAAAAAAAAAD//wAAAQAAAP//AAABAA=="/>
              </a:ext>
            </a:extLst>
          </p:cNvSpPr>
          <p:nvPr/>
        </p:nvSpPr>
        <p:spPr>
          <a:xfrm>
            <a:off x="6675120" y="3108960"/>
            <a:ext cx="4937760" cy="3154680"/>
          </a:xfrm>
          <a:prstGeom prst="roundRect">
            <a:avLst>
              <a:gd name="adj" fmla="val 2319"/>
            </a:avLst>
          </a:prstGeom>
          <a:solidFill>
            <a:srgbClr val="EFF3F8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pic>
        <p:nvPicPr>
          <p:cNvPr id="15" name="Image 0" descr="C:/GIT/crime-sp-ml/crime-sp-ml/reports/figures/eda_top15_crimes.png"/>
          <p:cNvPicPr>
            <a:picLocks noChangeAspect="1"/>
            <a:extLst>
              <a:ext uri="smNativeData">
                <pr:smNativeData xmlns:pr="smNativeData" xmlns="smNativeData" val="SMDATA_18_kRU2ah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ct27d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OgpAAD4EwAAmEYAALAlAAAQAAAAJgAAAAgAAAD//////////zAAAAAUAAAAAAAAAAAA//8AAAEAAAD//wAAAQA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246120"/>
            <a:ext cx="4663440" cy="288036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CABAACgRwAA0AIAABAAAAAmAAAACAAAAP//////////MAAAABQAAAAAAAAAAAD//wAAAQAAAP//AAABAA=="/>
              </a:ext>
            </a:extLst>
          </p:cNvSpPr>
          <p:nvPr/>
        </p:nvSpPr>
        <p:spPr>
          <a:xfrm>
            <a:off x="548640" y="182880"/>
            <a:ext cx="1109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b="1" cap="none" spc="40">
                <a:solidFill>
                  <a:srgbClr val="E0A038"/>
                </a:solidFill>
              </a:rPr>
              <a:t>VARIÁVEIS</a:t>
            </a:r>
            <a:endParaRPr lang="en-us" sz="12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F0CAACgRwAA3QYAABAAAAAmAAAACAAAAP//////////MAAAABQAAAAAAAAAAAD//wAAAQAAAP//AAABAA=="/>
              </a:ext>
            </a:extLst>
          </p:cNvSpPr>
          <p:nvPr/>
        </p:nvSpPr>
        <p:spPr>
          <a:xfrm>
            <a:off x="548640" y="384175"/>
            <a:ext cx="1109472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Preparação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das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variáveis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6_kRU2ahMAAAAlAAAAZQAAAA0AAAAAkAAAAEgAAACQAAAASAAAAAAAAAAAAAAAAAAAAAEAAABQAAAAexSuR+F6xD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AAAAAB/f38AucTQAMvLywDAwP8Af39/AAAAAAAAAAAAAAAAAAAAAAAAAAAAIQAAABgAAAAUAAAAYAMAAJAJAADAKgAAMA8AABAAAAAmAAAACAAAAP//////////MAAAABQAAAAAAAAAAAD//wAAAQAAAP//AAABAA=="/>
              </a:ext>
            </a:extLst>
          </p:cNvSpPr>
          <p:nvPr/>
        </p:nvSpPr>
        <p:spPr>
          <a:xfrm>
            <a:off x="548640" y="155448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6_kRU2ahMAAAAlAAAAZgAAAA0AAAAAkAAAAEgAAACQAAAASAAAAAAAAAAAAAAAAAAAAAEAAABQAAAAAAAAAAAA8D8AAAAAAADwPwAAAAAAAOA/AAAAAAAA4D8AAAAAAADgPwAAAAAAAOA/AAAAAAAA4D8AAAAAAADgPwAAAAAAAOA/AAAAAAAA4D8CAAAAjAAAAAEAAAAAAAAA4KA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KA4AP///wEAAAAAAAAAAAAAAAAAAAAAAAAAAAAAAAAAAAAAAAAAAAAAAAB/f38A5+bmA8zMzADAwP8Af39/AAAAAAAAAAAAAAAAAAAAAAAAAAAAIQAAABgAAAAUAAAAgAQAACMLAAD6BgAAnQ0AABAAAAAmAAAACAAAAP//////////MAAAABQAAAAAAAAAAAD//wAAAQAAAP//AAABAA=="/>
              </a:ext>
            </a:extLst>
          </p:cNvSpPr>
          <p:nvPr/>
        </p:nvSpPr>
        <p:spPr>
          <a:xfrm>
            <a:off x="731520" y="1810385"/>
            <a:ext cx="402590" cy="402590"/>
          </a:xfrm>
          <a:prstGeom prst="ellipse">
            <a:avLst/>
          </a:prstGeom>
          <a:solidFill>
            <a:srgbClr val="E0A038"/>
          </a:solidFill>
          <a:ln>
            <a:noFill/>
          </a:ln>
          <a:effectLst/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gO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CMLAAD6BgAAnQ0AABAAAAAmAAAACAAAAP//////////MAAAABQAAAAAAAAAAAD//wAAAQAAAP//AAABAA=="/>
              </a:ext>
            </a:extLst>
          </p:cNvSpPr>
          <p:nvPr/>
        </p:nvSpPr>
        <p:spPr>
          <a:xfrm>
            <a:off x="731520" y="1810385"/>
            <a:ext cx="402590" cy="4025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600" b="1" cap="none">
                <a:solidFill>
                  <a:srgbClr val="FFFFFF"/>
                </a:solidFill>
              </a:rPr>
              <a:t>1</a:t>
            </a:r>
            <a:endParaRPr lang="en-us" sz="16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JAJAADoKQAAMA8AABAAAAAmAAAACAAAAP//////////MAAAABQAAAAAAAAAAAD//wAAAQAAAP//AAABAA=="/>
              </a:ext>
            </a:extLst>
          </p:cNvSpPr>
          <p:nvPr/>
        </p:nvSpPr>
        <p:spPr>
          <a:xfrm>
            <a:off x="1325880" y="1554480"/>
            <a:ext cx="54864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50" b="1" cap="none">
                <a:solidFill>
                  <a:srgbClr val="13314F"/>
                </a:solidFill>
              </a:rPr>
              <a:t>Entrada do </a:t>
            </a:r>
            <a:r>
              <a:rPr lang="en-us" sz="1450" b="1" cap="none">
                <a:solidFill>
                  <a:srgbClr val="13314F"/>
                </a:solidFill>
              </a:rPr>
              <a:t>modelo.  </a:t>
            </a:r>
            <a:r>
              <a:rPr lang="en-us" sz="1450" b="1" cap="none">
                <a:solidFill>
                  <a:srgbClr val="283441"/>
                </a:solidFill>
              </a:rPr>
              <a:t>latitude, longitude e hora.</a:t>
            </a:r>
            <a:endParaRPr lang="en-us" sz="1450" b="1" cap="none"/>
          </a:p>
        </p:txBody>
      </p:sp>
      <p:sp>
        <p:nvSpPr>
          <p:cNvPr id="8" name="Shape 6"/>
          <p:cNvSpPr>
            <a:extLst>
              <a:ext uri="smNativeData">
                <pr:smNativeData xmlns:pr="smNativeData" xmlns="smNativeData" val="SMDATA_16_kRU2ahMAAAAlAAAAZQAAAA0AAAAAkAAAAEgAAACQAAAASAAAAAAAAAAAAAAAAAAAAAEAAABQAAAAexSuR+F6xD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HwE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AAAAAB/f38AucTQAMvLywDAwP8Af39/AAAAAAAAAAAAAAAAAAAAAAAAAAAAIQAAABgAAAAUAAAAYAMAADMQAADAKgAA0xUAABAAAAAmAAAACAAAAP//////////MAAAABQAAAAAAAAAAAD//wAAAQAAAP//AAABAA=="/>
              </a:ext>
            </a:extLst>
          </p:cNvSpPr>
          <p:nvPr/>
        </p:nvSpPr>
        <p:spPr>
          <a:xfrm>
            <a:off x="548640" y="2633345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9" name="Shape 7"/>
          <p:cNvSpPr>
            <a:extLst>
              <a:ext uri="smNativeData">
                <pr:smNativeData xmlns:pr="smNativeData" xmlns="smNativeData" val="SMDATA_16_kRU2ahMAAAAlAAAAZgAAAA0AAAAAkAAAAEgAAACQAAAASAAAAAAAAAAAAAAAAAAAAAEAAABQAAAAAAAAAAAA8D8AAAAAAADwPwAAAAAAAOA/AAAAAAAA4D8AAAAAAADgPwAAAAAAAOA/AAAAAAAA4D8AAAAAAADgPwAAAAAAAOA/AAAAAAAA4D8CAAAAjAAAAAEAAAAAAAAA4KA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KA4AP///wEAAAAAAAAAAAAAAAAAAAAAAAAAAAAAAAAAAAAAAAAAAAAAAAB/f38A5+bmA8zMzADAwP8Af39/AAAAAAAAAAAAAAAAAAAAAAAAAAAAIQAAABgAAAAUAAAAgAQAAMYRAAD6BgAAQBQAABAAAAAmAAAACAAAAP//////////MAAAABQAAAAAAAAAAAD//wAAAQAAAP//AAABAA=="/>
              </a:ext>
            </a:extLst>
          </p:cNvSpPr>
          <p:nvPr/>
        </p:nvSpPr>
        <p:spPr>
          <a:xfrm>
            <a:off x="731520" y="2889250"/>
            <a:ext cx="402590" cy="402590"/>
          </a:xfrm>
          <a:prstGeom prst="ellipse">
            <a:avLst/>
          </a:prstGeom>
          <a:solidFill>
            <a:srgbClr val="E0A038"/>
          </a:solidFill>
          <a:ln>
            <a:noFill/>
          </a:ln>
          <a:effectLst/>
        </p:spPr>
      </p:sp>
      <p:sp>
        <p:nvSpPr>
          <p:cNvPr id="10" name="Text 8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MYRAAD6BgAAQBQAABAAAAAmAAAACAAAAP//////////MAAAABQAAAAAAAAAAAD//wAAAQAAAP//AAABAA=="/>
              </a:ext>
            </a:extLst>
          </p:cNvSpPr>
          <p:nvPr/>
        </p:nvSpPr>
        <p:spPr>
          <a:xfrm>
            <a:off x="731520" y="2889250"/>
            <a:ext cx="402590" cy="4025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600" b="1" cap="none">
                <a:solidFill>
                  <a:srgbClr val="FFFFFF"/>
                </a:solidFill>
              </a:rPr>
              <a:t>2</a:t>
            </a:r>
            <a:endParaRPr lang="en-us" sz="1600" cap="none"/>
          </a:p>
        </p:txBody>
      </p:sp>
      <p:sp>
        <p:nvSpPr>
          <p:cNvPr id="11" name="Text 9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DMQAADoKQAA0xUAABAAAAAmAAAACAAAAP//////////MAAAABQAAAAAAAAAAAD//wAAAQAAAP//AAABAA=="/>
              </a:ext>
            </a:extLst>
          </p:cNvSpPr>
          <p:nvPr/>
        </p:nvSpPr>
        <p:spPr>
          <a:xfrm>
            <a:off x="1325880" y="2633345"/>
            <a:ext cx="54864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50" b="1" cap="none">
                <a:solidFill>
                  <a:srgbClr val="13314F"/>
                </a:solidFill>
              </a:rPr>
              <a:t>Hora é </a:t>
            </a:r>
            <a:r>
              <a:rPr lang="en-us" sz="1450" b="1" cap="none">
                <a:solidFill>
                  <a:srgbClr val="13314F"/>
                </a:solidFill>
              </a:rPr>
              <a:t>cíclica.  </a:t>
            </a:r>
            <a:r>
              <a:rPr lang="en-us" sz="1450" b="1" cap="none">
                <a:solidFill>
                  <a:srgbClr val="283441"/>
                </a:solidFill>
              </a:rPr>
              <a:t>vira </a:t>
            </a:r>
            <a:r>
              <a:rPr lang="en-us" sz="1450" b="1" cap="none">
                <a:solidFill>
                  <a:srgbClr val="283441"/>
                </a:solidFill>
              </a:rPr>
              <a:t>seno e </a:t>
            </a:r>
            <a:r>
              <a:rPr lang="en-us" sz="1450" b="1" cap="none">
                <a:solidFill>
                  <a:srgbClr val="283441"/>
                </a:solidFill>
              </a:rPr>
              <a:t>cosseno — </a:t>
            </a:r>
            <a:r>
              <a:rPr lang="en-us" sz="1450" b="1" cap="none">
                <a:solidFill>
                  <a:srgbClr val="283441"/>
                </a:solidFill>
              </a:rPr>
              <a:t>23h </a:t>
            </a:r>
            <a:r>
              <a:rPr lang="en-us" sz="1450" b="1" cap="none">
                <a:solidFill>
                  <a:srgbClr val="283441"/>
                </a:solidFill>
              </a:rPr>
              <a:t>fica </a:t>
            </a:r>
            <a:r>
              <a:rPr lang="en-us" sz="1450" b="1" cap="none">
                <a:solidFill>
                  <a:srgbClr val="283441"/>
                </a:solidFill>
              </a:rPr>
              <a:t>perto de </a:t>
            </a:r>
            <a:r>
              <a:rPr lang="en-us" sz="1450" b="1" cap="none">
                <a:solidFill>
                  <a:srgbClr val="283441"/>
                </a:solidFill>
              </a:rPr>
              <a:t>0h.</a:t>
            </a:r>
            <a:endParaRPr lang="en-us" sz="1450" b="1" cap="none"/>
          </a:p>
        </p:txBody>
      </p:sp>
      <p:sp>
        <p:nvSpPr>
          <p:cNvPr id="12" name="Shape 10"/>
          <p:cNvSpPr>
            <a:extLst>
              <a:ext uri="smNativeData">
                <pr:smNativeData xmlns:pr="smNativeData" xmlns="smNativeData" val="SMDATA_16_kRU2ahMAAAAlAAAAZQAAAA0AAAAAkAAAAEgAAACQAAAASAAAAAAAAAAAAAAAAAAAAAEAAABQAAAAexSuR+F6xD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Cs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AAAAAB/f38AucTQAMvLywDAwP8Af39/AAAAAAAAAAAAAAAAAAAAAAAAAAAAIQAAABgAAAAUAAAAYAMAANYWAADAKgAAdhwAABAAAAAmAAAACAAAAP//////////MAAAABQAAAAAAAAAAAD//wAAAQAAAP//AAABAA=="/>
              </a:ext>
            </a:extLst>
          </p:cNvSpPr>
          <p:nvPr/>
        </p:nvSpPr>
        <p:spPr>
          <a:xfrm>
            <a:off x="548640" y="371221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13" name="Shape 11"/>
          <p:cNvSpPr>
            <a:extLst>
              <a:ext uri="smNativeData">
                <pr:smNativeData xmlns:pr="smNativeData" xmlns="smNativeData" val="SMDATA_16_kRU2ahMAAAAlAAAAZgAAAA0AAAAAkAAAAEgAAACQAAAASAAAAAAAAAAAAAAAAAAAAAEAAABQAAAAAAAAAAAA8D8AAAAAAADwPwAAAAAAAOA/AAAAAAAA4D8AAAAAAADgPwAAAAAAAOA/AAAAAAAA4D8AAAAAAADgPwAAAAAAAOA/AAAAAAAA4D8CAAAAjAAAAAEAAAAAAAAA4KA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oJ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KA4AP///wEAAAAAAAAAAAAAAAAAAAAAAAAAAAAAAAAAAAAAAAAAAAAAAAB/f38A5+bmA8zMzADAwP8Af39/AAAAAAAAAAAAAAAAAAAAAAAAAAAAIQAAABgAAAAUAAAAgAQAAGoYAAD6BgAA4xoAABAAAAAmAAAACAAAAP//////////MAAAABQAAAAAAAAAAAD//wAAAQAAAP//AAABAA=="/>
              </a:ext>
            </a:extLst>
          </p:cNvSpPr>
          <p:nvPr/>
        </p:nvSpPr>
        <p:spPr>
          <a:xfrm>
            <a:off x="731520" y="3968750"/>
            <a:ext cx="402590" cy="401955"/>
          </a:xfrm>
          <a:prstGeom prst="ellipse">
            <a:avLst/>
          </a:prstGeom>
          <a:solidFill>
            <a:srgbClr val="E0A038"/>
          </a:solidFill>
          <a:ln>
            <a:noFill/>
          </a:ln>
          <a:effectLst/>
        </p:spPr>
      </p:sp>
      <p:sp>
        <p:nvSpPr>
          <p:cNvPr id="14" name="Text 12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GoYAAD6BgAA4xoAABAAAAAmAAAACAAAAP//////////MAAAABQAAAAAAAAAAAD//wAAAQAAAP//AAABAA=="/>
              </a:ext>
            </a:extLst>
          </p:cNvSpPr>
          <p:nvPr/>
        </p:nvSpPr>
        <p:spPr>
          <a:xfrm>
            <a:off x="731520" y="3968750"/>
            <a:ext cx="402590" cy="4019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600" b="1" cap="none">
                <a:solidFill>
                  <a:srgbClr val="FFFFFF"/>
                </a:solidFill>
              </a:rPr>
              <a:t>3</a:t>
            </a:r>
            <a:endParaRPr lang="en-us" sz="1600" cap="none"/>
          </a:p>
        </p:txBody>
      </p:sp>
      <p:sp>
        <p:nvSpPr>
          <p:cNvPr id="15" name="Text 13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NYWAADoKQAAdhwAABAAAAAmAAAACAAAAP//////////MAAAABQAAAAAAAAAAAD//wAAAQAAAP//AAABAA=="/>
              </a:ext>
            </a:extLst>
          </p:cNvSpPr>
          <p:nvPr/>
        </p:nvSpPr>
        <p:spPr>
          <a:xfrm>
            <a:off x="1325880" y="3712210"/>
            <a:ext cx="54864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50" b="1" cap="none">
                <a:solidFill>
                  <a:srgbClr val="13314F"/>
                </a:solidFill>
              </a:rPr>
              <a:t>Tipo de crime é o </a:t>
            </a:r>
            <a:r>
              <a:rPr lang="en-us" sz="1450" b="1" cap="none">
                <a:solidFill>
                  <a:srgbClr val="13314F"/>
                </a:solidFill>
              </a:rPr>
              <a:t>ALVO.  </a:t>
            </a:r>
            <a:r>
              <a:rPr lang="en-us" sz="1450" b="1" cap="none">
                <a:solidFill>
                  <a:srgbClr val="283441"/>
                </a:solidFill>
              </a:rPr>
              <a:t>nunca </a:t>
            </a:r>
            <a:r>
              <a:rPr lang="en-us" sz="1450" b="1" cap="none">
                <a:solidFill>
                  <a:srgbClr val="283441"/>
                </a:solidFill>
              </a:rPr>
              <a:t>entra </a:t>
            </a:r>
            <a:r>
              <a:rPr lang="en-us" sz="1450" b="1" cap="none">
                <a:solidFill>
                  <a:srgbClr val="283441"/>
                </a:solidFill>
              </a:rPr>
              <a:t>como </a:t>
            </a:r>
            <a:r>
              <a:rPr lang="en-us" sz="1450" b="1" cap="none">
                <a:solidFill>
                  <a:srgbClr val="283441"/>
                </a:solidFill>
              </a:rPr>
              <a:t>variável (</a:t>
            </a:r>
            <a:r>
              <a:rPr lang="en-us" sz="1450" b="1" cap="none">
                <a:solidFill>
                  <a:srgbClr val="283441"/>
                </a:solidFill>
              </a:rPr>
              <a:t>seria </a:t>
            </a:r>
            <a:r>
              <a:rPr lang="en-us" sz="1450" b="1" cap="none">
                <a:solidFill>
                  <a:srgbClr val="283441"/>
                </a:solidFill>
              </a:rPr>
              <a:t>vazamento).</a:t>
            </a:r>
            <a:endParaRPr lang="en-us" sz="1450" b="1" cap="none"/>
          </a:p>
        </p:txBody>
      </p:sp>
      <p:sp>
        <p:nvSpPr>
          <p:cNvPr id="16" name="Shape 14"/>
          <p:cNvSpPr>
            <a:extLst>
              <a:ext uri="smNativeData">
                <pr:smNativeData xmlns:pr="smNativeData" xmlns="smNativeData" val="SMDATA_16_kRU2ahMAAAAlAAAAZQAAAA0AAAAAkAAAAEgAAACQAAAASAAAAAAAAAAAAAAAAAAAAAEAAABQAAAAexSuR+F6xD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DoJ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AAAAAB/f38AucTQAMvLywDAwP8Af39/AAAAAAAAAAAAAAAAAAAAAAAAAAAAIQAAABgAAAAUAAAAYAMAAHodAADAKgAAGiMAABAAAAAmAAAACAAAAP//////////MAAAABQAAAAAAAAAAAD//wAAAQAAAP//AAABAA=="/>
              </a:ext>
            </a:extLst>
          </p:cNvSpPr>
          <p:nvPr/>
        </p:nvSpPr>
        <p:spPr>
          <a:xfrm>
            <a:off x="548640" y="479171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17" name="Shape 15"/>
          <p:cNvSpPr>
            <a:extLst>
              <a:ext uri="smNativeData">
                <pr:smNativeData xmlns:pr="smNativeData" xmlns="smNativeData" val="SMDATA_16_kRU2ahMAAAAlAAAAZgAAAA0AAAAAkAAAAEgAAACQAAAASAAAAAAAAAAAAAAAAAAAAAEAAABQAAAAAAAAAAAA8D8AAAAAAADwPwAAAAAAAOA/AAAAAAAA4D8AAAAAAADgPwAAAAAAAOA/AAAAAAAA4D8AAAAAAADgPwAAAAAAAOA/AAAAAAAA4D8CAAAAjAAAAAEAAAAAAAAA4KA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KA4AP///wEAAAAAAAAAAAAAAAAAAAAAAAAAAAAAAAAAAAAAAAAAAAAAAAB/f38A5+bmA8zMzADAwP8Af39/AAAAAAAAAAAAAAAAAAAAAAAAAAAAIQAAABgAAAAUAAAAgAQAAA0fAAD6BgAAhiEAABAAAAAmAAAACAAAAP//////////MAAAABQAAAAAAAAAAAD//wAAAQAAAP//AAABAA=="/>
              </a:ext>
            </a:extLst>
          </p:cNvSpPr>
          <p:nvPr/>
        </p:nvSpPr>
        <p:spPr>
          <a:xfrm>
            <a:off x="731520" y="5047615"/>
            <a:ext cx="402590" cy="401955"/>
          </a:xfrm>
          <a:prstGeom prst="ellipse">
            <a:avLst/>
          </a:prstGeom>
          <a:solidFill>
            <a:srgbClr val="E0A038"/>
          </a:solidFill>
          <a:ln>
            <a:noFill/>
          </a:ln>
          <a:effectLst/>
        </p:spPr>
      </p:sp>
      <p:sp>
        <p:nvSpPr>
          <p:cNvPr id="18" name="Text 16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jQm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A0fAAD6BgAAhiEAABAAAAAmAAAACAAAAP//////////MAAAABQAAAAAAAAAAAD//wAAAQAAAP//AAABAA=="/>
              </a:ext>
            </a:extLst>
          </p:cNvSpPr>
          <p:nvPr/>
        </p:nvSpPr>
        <p:spPr>
          <a:xfrm>
            <a:off x="731520" y="5047615"/>
            <a:ext cx="402590" cy="4019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600" b="1" cap="none">
                <a:solidFill>
                  <a:srgbClr val="FFFFFF"/>
                </a:solidFill>
              </a:rPr>
              <a:t>4</a:t>
            </a:r>
            <a:endParaRPr lang="en-us" sz="1600" cap="none"/>
          </a:p>
        </p:txBody>
      </p:sp>
      <p:sp>
        <p:nvSpPr>
          <p:cNvPr id="19" name="Text 17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BZZr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HodAADoKQAAGiMAABAAAAAmAAAACAAAAP//////////MAAAABQAAAAAAAAAAAD//wAAAQAAAP//AAABAA=="/>
              </a:ext>
            </a:extLst>
          </p:cNvSpPr>
          <p:nvPr/>
        </p:nvSpPr>
        <p:spPr>
          <a:xfrm>
            <a:off x="1325880" y="4791710"/>
            <a:ext cx="54864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50" b="1" cap="none">
                <a:solidFill>
                  <a:srgbClr val="13314F"/>
                </a:solidFill>
              </a:rPr>
              <a:t>Período em </a:t>
            </a:r>
            <a:r>
              <a:rPr lang="en-us" sz="1450" b="1" cap="none">
                <a:solidFill>
                  <a:srgbClr val="13314F"/>
                </a:solidFill>
              </a:rPr>
              <a:t>texto.  </a:t>
            </a:r>
            <a:r>
              <a:rPr lang="en-us" sz="1450" b="1" cap="none">
                <a:solidFill>
                  <a:srgbClr val="283441"/>
                </a:solidFill>
              </a:rPr>
              <a:t>só </a:t>
            </a:r>
            <a:r>
              <a:rPr lang="en-us" sz="1450" b="1" cap="none">
                <a:solidFill>
                  <a:srgbClr val="283441"/>
                </a:solidFill>
              </a:rPr>
              <a:t>na </a:t>
            </a:r>
            <a:r>
              <a:rPr lang="en-us" sz="1450" b="1" cap="none">
                <a:solidFill>
                  <a:srgbClr val="283441"/>
                </a:solidFill>
              </a:rPr>
              <a:t>exploração; o </a:t>
            </a:r>
            <a:r>
              <a:rPr lang="en-us" sz="1450" b="1" cap="none">
                <a:solidFill>
                  <a:srgbClr val="283441"/>
                </a:solidFill>
              </a:rPr>
              <a:t>modelo </a:t>
            </a:r>
            <a:r>
              <a:rPr lang="en-us" sz="1450" b="1" cap="none">
                <a:solidFill>
                  <a:srgbClr val="283441"/>
                </a:solidFill>
              </a:rPr>
              <a:t>usa hora </a:t>
            </a:r>
            <a:r>
              <a:rPr lang="en-us" sz="1450" b="1" cap="none">
                <a:solidFill>
                  <a:srgbClr val="283441"/>
                </a:solidFill>
              </a:rPr>
              <a:t>exata.</a:t>
            </a:r>
            <a:endParaRPr lang="en-us" sz="1450" b="1" cap="none"/>
          </a:p>
        </p:txBody>
      </p:sp>
      <p:sp>
        <p:nvSpPr>
          <p:cNvPr id="20" name="Shape 18"/>
          <p:cNvSpPr>
            <a:extLst>
              <a:ext uri="smNativeData">
                <pr:smNativeData xmlns:pr="smNativeData" xmlns="smNativeData" val="SMDATA_16_kRU2ahMAAAAlAAAAZQAAAA0AAAAAkAAAAEgAAACQAAAASAAAAAAAAAAAAAAAAAAAAAEAAABQAAAAexSuR+F6pD8AAAAAAADwvwAAAAAAAOA/AAAAAAAA4D8AAAAAAADgPwAAAAAAAOA/AAAAAAAA4D8AAAAAAADgPwAAAAAAAOA/AAAAAAAA4D8CAAAAjAAAAAEAAAAAAAAADyR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DyRAAP///wEAAAAAAAAAAAAAAAAAAAAAAAAAAAAAAAAAAAAAAAAAAAAAAAB/f38AucTQAMvLywDAwP8Af39/AAAAAAAAAAAAAAAAAAAAAAAAAAAAIQAAABgAAAAUAAAAkC0AALAKAABwRwAAMCEAABAAAAAmAAAACAAAAP//////////MAAAABQAAAAAAAAAAAD//wAAAQAAAP//AAABAA=="/>
              </a:ext>
            </a:extLst>
          </p:cNvSpPr>
          <p:nvPr/>
        </p:nvSpPr>
        <p:spPr>
          <a:xfrm>
            <a:off x="7406640" y="1737360"/>
            <a:ext cx="4206240" cy="3657600"/>
          </a:xfrm>
          <a:prstGeom prst="roundRect">
            <a:avLst>
              <a:gd name="adj" fmla="val 2000"/>
            </a:avLst>
          </a:prstGeom>
          <a:solidFill>
            <a:srgbClr val="0F2440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21" name="Text 19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A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C0AAIgLAABwRwAAyA0AABAAAAAmAAAACAAAAP//////////MAAAABQAAAAAAAAAAAD//wAAAQAAAP//AAABAA=="/>
              </a:ext>
            </a:extLst>
          </p:cNvSpPr>
          <p:nvPr/>
        </p:nvSpPr>
        <p:spPr>
          <a:xfrm>
            <a:off x="7406640" y="1874520"/>
            <a:ext cx="420624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600" b="1" cap="none">
                <a:solidFill>
                  <a:srgbClr val="FFFFF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Hora </a:t>
            </a:r>
            <a:r>
              <a:rPr lang="en-us" sz="1600" b="1" cap="none">
                <a:solidFill>
                  <a:srgbClr val="FFFFF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cíclica</a:t>
            </a:r>
            <a:endParaRPr lang="en-us" sz="1600" cap="none"/>
          </a:p>
        </p:txBody>
      </p:sp>
      <p:sp>
        <p:nvSpPr>
          <p:cNvPr id="22" name="Shape 20"/>
          <p:cNvSpPr>
            <a:extLst>
              <a:ext uri="smNativeData">
                <pr:smNativeData xmlns:pr="smNativeData" xmlns="smNativeData" val="SMDATA_16_kRU2ahMAAAAlAAAAZgAAAA0AAAAAkAAAAEgAAACQAAAASAAAAAAAAAAAAAAAAAAAAAEAAABQAAAAAAAAAAAA8D8AAAAAAADw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OCgOAA8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OCgOAB/f38A5+bmA8zMzADAwP8Af39/AAAAAAAAAAAAAAAAAAAAAAAAAAAAIQAAABgAAAAUAAAAcDUAAOgOAACQPwAACBkAABAAAAAmAAAACAAAAP//////////MAAAABQAAAAAAAAAAAD//wAAAQAAAP//AAABAA=="/>
              </a:ext>
            </a:extLst>
          </p:cNvSpPr>
          <p:nvPr/>
        </p:nvSpPr>
        <p:spPr>
          <a:xfrm>
            <a:off x="8686800" y="2423160"/>
            <a:ext cx="1645920" cy="1645920"/>
          </a:xfrm>
          <a:prstGeom prst="ellipse">
            <a:avLst/>
          </a:prstGeom>
          <a:noFill/>
          <a:ln w="38100" cap="flat" cmpd="sng" algn="ctr">
            <a:solidFill>
              <a:srgbClr val="E0A038"/>
            </a:solidFill>
            <a:prstDash val="solid"/>
            <a:headEnd type="none"/>
            <a:tailEnd type="none"/>
          </a:ln>
          <a:effectLst/>
        </p:spPr>
      </p:sp>
      <p:sp>
        <p:nvSpPr>
          <p:cNvPr id="23" name="Shape 21"/>
          <p:cNvSpPr>
            <a:extLst>
              <a:ext uri="smNativeData">
                <pr:smNativeData xmlns:pr="smNativeData" xmlns="smNativeData" val="SMDATA_16_kRU2ahMAAAAlAAAAZgAAAA0AAAAAkAAAAEgAAACQAAAASAAAAAAAAAAAAAAAAAAAAAEAAABQAAAAAAAAAAAA8D8AAAAAAADwPwAAAAAAAOA/AAAAAAAA4D8AAAAAAADgPwAAAAAAAOA/AAAAAAAA4D8AAAAAAADgPwAAAAAAAOA/AAAAAAAA4D8CAAAAjAAAAAEAAAAAAAAA4KA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s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KA4AP///wEAAAAAAAAAAAAAAAAAAAAAAAAAAAAAAAAAAAAAAAAAAAAAAAB/f38A5+bmA8zMzADAwP8Af39/AAAAAAAAAAAAAAAAAAAAAAAAAAAAIQAAABgAAAAUAAAADToAAIMOAADzOgAAag8AABAAAAAmAAAACAAAAP//////////MAAAABQAAAAAAAAAAAD//wAAAQAAAP//AAABAA=="/>
              </a:ext>
            </a:extLst>
          </p:cNvSpPr>
          <p:nvPr/>
        </p:nvSpPr>
        <p:spPr>
          <a:xfrm>
            <a:off x="9436735" y="2359025"/>
            <a:ext cx="146050" cy="146685"/>
          </a:xfrm>
          <a:prstGeom prst="ellipse">
            <a:avLst/>
          </a:prstGeom>
          <a:solidFill>
            <a:srgbClr val="E0A038"/>
          </a:solidFill>
          <a:ln>
            <a:noFill/>
          </a:ln>
          <a:effectLst/>
        </p:spPr>
      </p:sp>
      <p:sp>
        <p:nvSpPr>
          <p:cNvPr id="24" name="Text 22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AW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DUAAGAMAACQPwAAEA4AABAAAAAmAAAACAAAAP//////////MAAAABQAAAAAAAAAAAD//wAAAQAAAP//AAABAA=="/>
              </a:ext>
            </a:extLst>
          </p:cNvSpPr>
          <p:nvPr/>
        </p:nvSpPr>
        <p:spPr>
          <a:xfrm>
            <a:off x="8686800" y="2011680"/>
            <a:ext cx="16459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100" cap="none">
                <a:solidFill>
                  <a:srgbClr val="F6E2BC"/>
                </a:solidFill>
              </a:rPr>
              <a:t>0h · </a:t>
            </a:r>
            <a:r>
              <a:rPr lang="en-us" sz="1100" cap="none">
                <a:solidFill>
                  <a:srgbClr val="F6E2BC"/>
                </a:solidFill>
              </a:rPr>
              <a:t>23h</a:t>
            </a:r>
            <a:endParaRPr lang="en-us" sz="1100" cap="none"/>
          </a:p>
        </p:txBody>
      </p:sp>
      <p:sp>
        <p:nvSpPr>
          <p:cNvPr id="25" name="Text 23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o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C0AAHAaAABwRwAAsBwAABAAAAAmAAAACAAAAP//////////MAAAABQAAAAAAAAAAAD//wAAAQAAAP//AAABAA=="/>
              </a:ext>
            </a:extLst>
          </p:cNvSpPr>
          <p:nvPr/>
        </p:nvSpPr>
        <p:spPr>
          <a:xfrm>
            <a:off x="7406640" y="4297680"/>
            <a:ext cx="420624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FFFFFF"/>
                </a:solidFill>
                <a:latin typeface="Consolas" pitchFamily="0" charset="0"/>
                <a:ea typeface="Consolas" pitchFamily="0" charset="0"/>
                <a:cs typeface="Consolas" pitchFamily="0" charset="0"/>
              </a:rPr>
              <a:t>sin(</a:t>
            </a:r>
            <a:r>
              <a:rPr lang="en-us" sz="1300" cap="none">
                <a:solidFill>
                  <a:srgbClr val="FFFFFF"/>
                </a:solidFill>
                <a:latin typeface="Consolas" pitchFamily="0" charset="0"/>
                <a:ea typeface="Consolas" pitchFamily="0" charset="0"/>
                <a:cs typeface="Consolas" pitchFamily="0" charset="0"/>
              </a:rPr>
              <a:t>2πh/24),  </a:t>
            </a:r>
            <a:r>
              <a:rPr lang="en-us" sz="1300" cap="none">
                <a:solidFill>
                  <a:srgbClr val="FFFFFF"/>
                </a:solidFill>
                <a:latin typeface="Consolas" pitchFamily="0" charset="0"/>
                <a:ea typeface="Consolas" pitchFamily="0" charset="0"/>
                <a:cs typeface="Consolas" pitchFamily="0" charset="0"/>
              </a:rPr>
              <a:t>cos(</a:t>
            </a:r>
            <a:r>
              <a:rPr lang="en-us" sz="1300" cap="none">
                <a:solidFill>
                  <a:srgbClr val="FFFFFF"/>
                </a:solidFill>
                <a:latin typeface="Consolas" pitchFamily="0" charset="0"/>
                <a:ea typeface="Consolas" pitchFamily="0" charset="0"/>
                <a:cs typeface="Consolas" pitchFamily="0" charset="0"/>
              </a:rPr>
              <a:t>2πh/24)</a:t>
            </a:r>
            <a:endParaRPr lang="en-us" sz="1300" cap="none"/>
          </a:p>
        </p:txBody>
      </p:sp>
      <p:sp>
        <p:nvSpPr>
          <p:cNvPr id="26" name="Text 24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YE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C0AAPgcAABwRwAAWCAAABAAAAAmAAAACAAAAP//////////MAAAABQAAAAAAAAAAAD//wAAAQAAAP//AAABAA=="/>
              </a:ext>
            </a:extLst>
          </p:cNvSpPr>
          <p:nvPr/>
        </p:nvSpPr>
        <p:spPr>
          <a:xfrm>
            <a:off x="7406640" y="4709160"/>
            <a:ext cx="42062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200" i="1" cap="none">
                <a:solidFill>
                  <a:srgbClr val="C7D4E2"/>
                </a:solidFill>
              </a:rPr>
              <a:t>23h e </a:t>
            </a:r>
            <a:r>
              <a:rPr lang="en-us" sz="1200" i="1" cap="none">
                <a:solidFill>
                  <a:srgbClr val="C7D4E2"/>
                </a:solidFill>
              </a:rPr>
              <a:t>0h </a:t>
            </a:r>
            <a:r>
              <a:rPr lang="en-us" sz="1200" i="1" cap="none">
                <a:solidFill>
                  <a:srgbClr val="C7D4E2"/>
                </a:solidFill>
              </a:rPr>
              <a:t>ficam </a:t>
            </a:r>
            <a:r>
              <a:rPr lang="en-us" sz="1200" i="1" cap="none">
                <a:solidFill>
                  <a:srgbClr val="C7D4E2"/>
                </a:solidFill>
              </a:rPr>
              <a:t>próximas, </a:t>
            </a:r>
            <a:r>
              <a:rPr lang="en-us" sz="1200" i="1" cap="none">
                <a:solidFill>
                  <a:srgbClr val="C7D4E2"/>
                </a:solidFill>
              </a:rPr>
              <a:t>como </a:t>
            </a:r>
            <a:r>
              <a:rPr lang="en-us" sz="1200" i="1" cap="none">
                <a:solidFill>
                  <a:srgbClr val="C7D4E2"/>
                </a:solidFill>
              </a:rPr>
              <a:t>na </a:t>
            </a:r>
            <a:r>
              <a:rPr lang="en-us" sz="1200" i="1" cap="none">
                <a:solidFill>
                  <a:srgbClr val="C7D4E2"/>
                </a:solidFill>
              </a:rPr>
              <a:t>vida real.</a:t>
            </a:r>
            <a:endParaRPr lang="en-us" sz="1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CABAACgRwAA0AIAABAAAAAmAAAACAAAAP//////////MAAAABQAAAAAAAAAAAD//wAAAQAAAP//AAABAA=="/>
              </a:ext>
            </a:extLst>
          </p:cNvSpPr>
          <p:nvPr/>
        </p:nvSpPr>
        <p:spPr>
          <a:xfrm>
            <a:off x="548640" y="182880"/>
            <a:ext cx="1109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b="1" cap="none" spc="40">
                <a:solidFill>
                  <a:srgbClr val="E0A038"/>
                </a:solidFill>
              </a:rPr>
              <a:t>MAPAS · </a:t>
            </a:r>
            <a:r>
              <a:rPr lang="en-us" sz="1200" b="1" cap="none" spc="40">
                <a:solidFill>
                  <a:srgbClr val="E0A038"/>
                </a:solidFill>
              </a:rPr>
              <a:t>SEM TEMPO</a:t>
            </a:r>
            <a:endParaRPr lang="en-us" sz="12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F0CAACgRwAA3QYAABAAAAAmAAAACAAAAP//////////MAAAABQAAAAAAAAAAAD//wAAAQAAAP//AAABAA=="/>
              </a:ext>
            </a:extLst>
          </p:cNvSpPr>
          <p:nvPr/>
        </p:nvSpPr>
        <p:spPr>
          <a:xfrm>
            <a:off x="548640" y="384175"/>
            <a:ext cx="1109472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Mapa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sem o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horário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6_kRU2ahMAAAAlAAAAZQAAAA0AAAAAkAAAAEgAAACQAAAASAAAAAAAAAAAAAAAAAAAAAEAAABQAAAA/Knx0k1ioD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AAAAAB/f38AucTQAMvLywDAwP8Af39/AAAAAAAAAAAAAAAAAAAAAAAAAAAAIQAAABgAAAAUAAAAYAMAALgIAACAHwAA+CUAABAAAAAmAAAACAAAAP//////////MAAAABQAAAAAAAAAAAD//wAAAQAAAP//AAABAA=="/>
              </a:ext>
            </a:extLst>
          </p:cNvSpPr>
          <p:nvPr/>
        </p:nvSpPr>
        <p:spPr>
          <a:xfrm>
            <a:off x="548640" y="1417320"/>
            <a:ext cx="4572000" cy="4754880"/>
          </a:xfrm>
          <a:prstGeom prst="roundRect">
            <a:avLst>
              <a:gd name="adj" fmla="val 1600"/>
            </a:avLst>
          </a:prstGeom>
          <a:solidFill>
            <a:srgbClr val="EFF3F8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pic>
        <p:nvPicPr>
          <p:cNvPr id="5" name="Image 0" descr="C:/GIT/crime-sp-ml/crime-sp-ml/reports/figures/eda_densidade_hexbin.png"/>
          <p:cNvPicPr>
            <a:picLocks noChangeAspect="1"/>
            <a:extLst>
              <a:ext uri="smNativeData">
                <pr:smNativeData xmlns:pr="smNativeData" xmlns="smNativeData" val="SMDATA_18_kRU2ah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gEAACQCQAAqB4AACAlAAAQAAAAJgAAAAgAAAD//////////zAAAAAUAAAAAAAAAAAA//8AAAEAAAD//wAAAQA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4297680" cy="44805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 3"/>
          <p:cNvSpPr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CIAANALAABwRwAAICUAABAAAAAmAAAACAAAAP//////////MAAAABQAAAAAAAAAAAD//wAAAQAAAP//AAABAA=="/>
              </a:ext>
            </a:extLst>
          </p:cNvSpPr>
          <p:nvPr/>
        </p:nvSpPr>
        <p:spPr>
          <a:xfrm>
            <a:off x="5577840" y="1920240"/>
            <a:ext cx="603504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177800" indent="-177800" algn="l">
              <a:spcAft>
                <a:spcPts val="800"/>
              </a:spcAft>
              <a:buSzTx/>
              <a:buChar char="•"/>
            </a:pPr>
            <a:r>
              <a:rPr lang="en-us" sz="1600" cap="none">
                <a:solidFill>
                  <a:srgbClr val="283441"/>
                </a:solidFill>
              </a:rPr>
              <a:t>A </a:t>
            </a:r>
            <a:r>
              <a:rPr lang="en-us" sz="1600" cap="none">
                <a:solidFill>
                  <a:srgbClr val="283441"/>
                </a:solidFill>
              </a:rPr>
              <a:t>densidade </a:t>
            </a:r>
            <a:r>
              <a:rPr lang="en-us" sz="1600" cap="none">
                <a:solidFill>
                  <a:srgbClr val="283441"/>
                </a:solidFill>
              </a:rPr>
              <a:t>se </a:t>
            </a:r>
            <a:r>
              <a:rPr lang="en-us" sz="1600" cap="none">
                <a:solidFill>
                  <a:srgbClr val="283441"/>
                </a:solidFill>
              </a:rPr>
              <a:t>concentra no Centro e </a:t>
            </a:r>
            <a:r>
              <a:rPr lang="en-us" sz="1600" cap="none">
                <a:solidFill>
                  <a:srgbClr val="283441"/>
                </a:solidFill>
              </a:rPr>
              <a:t>na </a:t>
            </a:r>
            <a:r>
              <a:rPr lang="en-us" sz="1600" cap="none">
                <a:solidFill>
                  <a:srgbClr val="283441"/>
                </a:solidFill>
              </a:rPr>
              <a:t>região </a:t>
            </a:r>
            <a:r>
              <a:rPr lang="en-us" sz="1600" cap="none">
                <a:solidFill>
                  <a:srgbClr val="283441"/>
                </a:solidFill>
              </a:rPr>
              <a:t>da </a:t>
            </a:r>
            <a:r>
              <a:rPr lang="en-us" sz="1600" cap="none">
                <a:solidFill>
                  <a:srgbClr val="283441"/>
                </a:solidFill>
              </a:rPr>
              <a:t>Paulista.Tirando a </a:t>
            </a:r>
            <a:r>
              <a:rPr lang="en-us" sz="1600" cap="none">
                <a:solidFill>
                  <a:srgbClr val="283441"/>
                </a:solidFill>
              </a:rPr>
              <a:t>Paulista, </a:t>
            </a:r>
            <a:r>
              <a:rPr lang="en-us" sz="1600" cap="none">
                <a:solidFill>
                  <a:srgbClr val="283441"/>
                </a:solidFill>
              </a:rPr>
              <a:t>outras </a:t>
            </a:r>
            <a:r>
              <a:rPr lang="en-us" sz="1600" cap="none">
                <a:solidFill>
                  <a:srgbClr val="283441"/>
                </a:solidFill>
              </a:rPr>
              <a:t>manchas </a:t>
            </a:r>
            <a:r>
              <a:rPr lang="en-us" sz="1600" cap="none">
                <a:solidFill>
                  <a:srgbClr val="283441"/>
                </a:solidFill>
              </a:rPr>
              <a:t>continuam — </a:t>
            </a:r>
            <a:r>
              <a:rPr lang="en-us" sz="1600" cap="none">
                <a:solidFill>
                  <a:srgbClr val="283441"/>
                </a:solidFill>
              </a:rPr>
              <a:t>corredores, </a:t>
            </a:r>
            <a:r>
              <a:rPr lang="en-us" sz="1600" cap="none">
                <a:solidFill>
                  <a:srgbClr val="283441"/>
                </a:solidFill>
              </a:rPr>
              <a:t>terminais, </a:t>
            </a:r>
            <a:r>
              <a:rPr lang="en-us" sz="1600" cap="none">
                <a:solidFill>
                  <a:srgbClr val="283441"/>
                </a:solidFill>
              </a:rPr>
              <a:t>vias </a:t>
            </a:r>
            <a:r>
              <a:rPr lang="en-us" sz="1600" cap="none">
                <a:solidFill>
                  <a:srgbClr val="283441"/>
                </a:solidFill>
              </a:rPr>
              <a:t>movimentadas.</a:t>
            </a:r>
            <a:r>
              <a:rPr lang="en-us" sz="1600" b="1" cap="none">
                <a:solidFill>
                  <a:srgbClr val="283441"/>
                </a:solidFill>
              </a:rPr>
              <a:t>Lê </a:t>
            </a:r>
            <a:r>
              <a:rPr lang="en-us" sz="1600" b="1" cap="none">
                <a:solidFill>
                  <a:srgbClr val="283441"/>
                </a:solidFill>
              </a:rPr>
              <a:t>concentração de </a:t>
            </a:r>
            <a:r>
              <a:rPr lang="en-us" sz="1600" b="1" cap="none">
                <a:solidFill>
                  <a:srgbClr val="283441"/>
                </a:solidFill>
              </a:rPr>
              <a:t>registro e </a:t>
            </a:r>
            <a:r>
              <a:rPr lang="en-us" sz="1600" b="1" cap="none">
                <a:solidFill>
                  <a:srgbClr val="283441"/>
                </a:solidFill>
              </a:rPr>
              <a:t>circulação, </a:t>
            </a:r>
            <a:r>
              <a:rPr lang="en-us" sz="1600" b="1" cap="none">
                <a:solidFill>
                  <a:srgbClr val="283441"/>
                </a:solidFill>
              </a:rPr>
              <a:t>não </a:t>
            </a:r>
            <a:r>
              <a:rPr lang="en-us" sz="1600" b="1" cap="none">
                <a:solidFill>
                  <a:srgbClr val="283441"/>
                </a:solidFill>
              </a:rPr>
              <a:t>risco </a:t>
            </a:r>
            <a:r>
              <a:rPr lang="en-us" sz="1600" b="1" cap="none">
                <a:solidFill>
                  <a:srgbClr val="283441"/>
                </a:solidFill>
              </a:rPr>
              <a:t>por </a:t>
            </a:r>
            <a:r>
              <a:rPr lang="en-us" sz="1600" b="1" cap="none">
                <a:solidFill>
                  <a:srgbClr val="283441"/>
                </a:solidFill>
              </a:rPr>
              <a:t>morador.</a:t>
            </a:r>
            <a:endParaRPr lang="en-us" sz="1600" cap="none">
              <a:solidFill>
                <a:srgbClr val="28344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CABAACgRwAA0AIAABAAAAAmAAAACAAAAP//////////MAAAABQAAAAAAAAAAAD//wAAAQAAAP//AAABAA=="/>
              </a:ext>
            </a:extLst>
          </p:cNvSpPr>
          <p:nvPr/>
        </p:nvSpPr>
        <p:spPr>
          <a:xfrm>
            <a:off x="548640" y="182880"/>
            <a:ext cx="1109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b="1" cap="none" spc="40">
                <a:solidFill>
                  <a:srgbClr val="E0A038"/>
                </a:solidFill>
              </a:rPr>
              <a:t>MAPAS · </a:t>
            </a:r>
            <a:r>
              <a:rPr lang="en-us" sz="1200" b="1" cap="none" spc="40">
                <a:solidFill>
                  <a:srgbClr val="E0A038"/>
                </a:solidFill>
              </a:rPr>
              <a:t>COM TEMPO</a:t>
            </a:r>
            <a:endParaRPr lang="en-us" sz="12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F0CAACgRwAA3QYAABAAAAAmAAAACAAAAP//////////MAAAABQAAAAAAAAAAAD//wAAAQAAAP//AAABAA=="/>
              </a:ext>
            </a:extLst>
          </p:cNvSpPr>
          <p:nvPr/>
        </p:nvSpPr>
        <p:spPr>
          <a:xfrm>
            <a:off x="548640" y="384175"/>
            <a:ext cx="1109472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Mapa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com o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horário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6_kRU2ahMAAAAlAAAAZQAAAA0AAAAAkAAAAEgAAACQAAAASAAAAAAAAAAAAAAAAAAAAAEAAABQAAAA220Xmus0oj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IAwBTo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AAAAAB/f38AucTQAMvLywDAwP8Af39/AAAAAAAAAAAAAAAAAAAAAAAAAAAAIQAAABgAAAAUAAAAYAMAALgIAABQNAAACCIAABAAAAAmAAAACAAAAP//////////MAAAABQAAAAAAAAAAAD//wAAAQAAAP//AAABAA=="/>
              </a:ext>
            </a:extLst>
          </p:cNvSpPr>
          <p:nvPr/>
        </p:nvSpPr>
        <p:spPr>
          <a:xfrm>
            <a:off x="548640" y="1417320"/>
            <a:ext cx="7955280" cy="4114800"/>
          </a:xfrm>
          <a:prstGeom prst="roundRect">
            <a:avLst>
              <a:gd name="adj" fmla="val 1778"/>
            </a:avLst>
          </a:prstGeom>
          <a:solidFill>
            <a:srgbClr val="EFF3F8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pic>
        <p:nvPicPr>
          <p:cNvPr id="5" name="Image 0" descr="C:/GIT/crime-sp-ml/crime-sp-ml/reports/figures/eda_heatmap_hora_x_crime.png"/>
          <p:cNvPicPr>
            <a:picLocks noChangeAspect="1"/>
            <a:extLst>
              <a:ext uri="smNativeData">
                <pr:smNativeData xmlns:pr="smNativeData" xmlns="smNativeData" val="SMDATA_18_kRU2ah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gEAACQCQAAeDMAADAhAAAQAAAAJgAAAAgAAAD//////////zAAAAAUAAAAAAAAAAAA//8AAAEAAAD//wAAAQA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7680960" cy="38404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 3"/>
          <p:cNvSpPr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DUAAEALAAAASAAAkCQAAAAAAAAmAAAACAAAAP//////////MAAAABQAAAAAAAAAAAD//wAAAQAAAP//AAABAA=="/>
              </a:ext>
            </a:extLst>
          </p:cNvSpPr>
          <p:nvPr/>
        </p:nvSpPr>
        <p:spPr>
          <a:xfrm>
            <a:off x="8686800" y="1828800"/>
            <a:ext cx="301752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177800" indent="-177800" algn="l">
              <a:spcAft>
                <a:spcPts val="800"/>
              </a:spcAft>
              <a:buSzTx/>
              <a:buChar char="•"/>
            </a:pPr>
            <a:r>
              <a:rPr lang="en-us" sz="1400" cap="none">
                <a:solidFill>
                  <a:srgbClr val="283441"/>
                </a:solidFill>
              </a:rPr>
              <a:t>Cada </a:t>
            </a:r>
            <a:r>
              <a:rPr lang="en-us" sz="1400" cap="none">
                <a:solidFill>
                  <a:srgbClr val="283441"/>
                </a:solidFill>
              </a:rPr>
              <a:t>tipo de crime </a:t>
            </a:r>
            <a:r>
              <a:rPr lang="en-us" sz="1400" cap="none">
                <a:solidFill>
                  <a:srgbClr val="283441"/>
                </a:solidFill>
              </a:rPr>
              <a:t>tem </a:t>
            </a:r>
            <a:r>
              <a:rPr lang="en-us" sz="1400" cap="none">
                <a:solidFill>
                  <a:srgbClr val="283441"/>
                </a:solidFill>
              </a:rPr>
              <a:t>um </a:t>
            </a:r>
            <a:r>
              <a:rPr lang="en-us" sz="1400" cap="none">
                <a:solidFill>
                  <a:srgbClr val="283441"/>
                </a:solidFill>
              </a:rPr>
              <a:t>horário </a:t>
            </a:r>
            <a:r>
              <a:rPr lang="en-us" sz="1400" cap="none">
                <a:solidFill>
                  <a:srgbClr val="283441"/>
                </a:solidFill>
              </a:rPr>
              <a:t>típico:</a:t>
            </a:r>
            <a:endParaRPr lang="en-us" sz="1400" cap="none">
              <a:solidFill>
                <a:srgbClr val="283441"/>
              </a:solidFill>
            </a:endParaRPr>
          </a:p>
          <a:p>
            <a:pPr lvl="2" marL="342900" indent="-171450" algn="l">
              <a:spcAft>
                <a:spcPts val="800"/>
              </a:spcAft>
              <a:buSzTx/>
              <a:buChar char="•"/>
              <a:defRPr lang="en-us" sz="1400" cap="none">
                <a:solidFill>
                  <a:srgbClr val="283441"/>
                </a:solidFill>
              </a:defRPr>
            </a:pPr>
            <a:r>
              <a:t>Roubo de </a:t>
            </a:r>
            <a:r>
              <a:t>carga </a:t>
            </a:r>
            <a:r>
              <a:t>na </a:t>
            </a:r>
            <a:r>
              <a:t>parte </a:t>
            </a:r>
            <a:r>
              <a:t>da </a:t>
            </a:r>
            <a:r>
              <a:t>manhã;</a:t>
            </a:r>
          </a:p>
          <a:p>
            <a:pPr lvl="2" marL="342900" indent="-171450" algn="l">
              <a:spcAft>
                <a:spcPts val="800"/>
              </a:spcAft>
              <a:buSzTx/>
              <a:buChar char="•"/>
              <a:defRPr lang="en-us" sz="1400" cap="none">
                <a:solidFill>
                  <a:srgbClr val="283441"/>
                </a:solidFill>
              </a:defRPr>
            </a:pPr>
            <a:r>
              <a:t>Roubo de </a:t>
            </a:r>
            <a:r>
              <a:t>veículo à </a:t>
            </a:r>
            <a:r>
              <a:t>noite;</a:t>
            </a:r>
          </a:p>
          <a:p>
            <a:pPr lvl="2" marL="342900" indent="-171450" algn="l">
              <a:spcAft>
                <a:spcPts val="800"/>
              </a:spcAft>
              <a:buSzTx/>
              <a:buChar char="•"/>
              <a:defRPr lang="en-us" sz="1400" cap="none">
                <a:solidFill>
                  <a:srgbClr val="283441"/>
                </a:solidFill>
              </a:defRPr>
            </a:pPr>
            <a:r>
              <a:t>Roubos </a:t>
            </a:r>
            <a:r>
              <a:t>concentrados </a:t>
            </a:r>
            <a:r>
              <a:t>ao </a:t>
            </a:r>
            <a:r>
              <a:t>amanhecer e no final do </a:t>
            </a:r>
            <a:r>
              <a:t>dia;</a:t>
            </a:r>
          </a:p>
          <a:p>
            <a:pPr lvl="2" marL="342900" indent="-171450" algn="l">
              <a:spcAft>
                <a:spcPts val="800"/>
              </a:spcAft>
              <a:buSzTx/>
              <a:buChar char="•"/>
              <a:defRPr lang="en-us" sz="1400" cap="none">
                <a:solidFill>
                  <a:srgbClr val="283441"/>
                </a:solidFill>
              </a:defRPr>
            </a:pPr>
            <a:r>
              <a:t>Furtos </a:t>
            </a:r>
            <a:r>
              <a:t>durante o </a:t>
            </a:r>
            <a:r>
              <a:t>dia;</a:t>
            </a:r>
          </a:p>
          <a:p>
            <a:pPr lvl="2" marL="342900" indent="-171450" algn="l">
              <a:spcAft>
                <a:spcPts val="800"/>
              </a:spcAft>
              <a:buSzTx/>
              <a:buChar char="•"/>
              <a:defRPr lang="en-us" sz="1400" cap="none">
                <a:solidFill>
                  <a:srgbClr val="283441"/>
                </a:solidFill>
              </a:defRPr>
            </a:pPr>
            <a:r>
              <a:t>Apreensão de </a:t>
            </a:r>
            <a:r>
              <a:t>entorpecentes </a:t>
            </a:r>
            <a:r>
              <a:t>às 11 e 16 horas</a:t>
            </a:r>
          </a:p>
          <a:p>
            <a:pPr marL="177800" indent="-177800" algn="l">
              <a:spcAft>
                <a:spcPts val="800"/>
              </a:spcAft>
              <a:buSzTx/>
              <a:buChar char="•"/>
            </a:pPr>
            <a:r>
              <a:rPr lang="en-us" sz="1400" b="1" cap="none">
                <a:solidFill>
                  <a:srgbClr val="283441"/>
                </a:solidFill>
              </a:rPr>
              <a:t>Observado </a:t>
            </a:r>
            <a:r>
              <a:rPr lang="en-us" sz="1400" b="1" cap="none">
                <a:solidFill>
                  <a:srgbClr val="283441"/>
                </a:solidFill>
              </a:rPr>
              <a:t>nos dados — </a:t>
            </a:r>
            <a:r>
              <a:rPr lang="en-us" sz="1400" b="1" cap="none">
                <a:solidFill>
                  <a:srgbClr val="283441"/>
                </a:solidFill>
              </a:rPr>
              <a:t>descreve o </a:t>
            </a:r>
            <a:r>
              <a:rPr lang="en-us" sz="1400" b="1" cap="none">
                <a:solidFill>
                  <a:srgbClr val="283441"/>
                </a:solidFill>
              </a:rPr>
              <a:t>padrão, </a:t>
            </a:r>
            <a:r>
              <a:rPr lang="en-us" sz="1400" b="1" cap="none">
                <a:solidFill>
                  <a:srgbClr val="283441"/>
                </a:solidFill>
              </a:rPr>
              <a:t>não </a:t>
            </a:r>
            <a:r>
              <a:rPr lang="en-us" sz="1400" b="1" cap="none">
                <a:solidFill>
                  <a:srgbClr val="283441"/>
                </a:solidFill>
              </a:rPr>
              <a:t>afirma </a:t>
            </a:r>
            <a:r>
              <a:rPr lang="en-us" sz="1400" b="1" cap="none">
                <a:solidFill>
                  <a:srgbClr val="283441"/>
                </a:solidFill>
              </a:rPr>
              <a:t>causa.</a:t>
            </a:r>
            <a:endParaRPr lang="en-us" sz="1400" cap="none">
              <a:solidFill>
                <a:srgbClr val="283441"/>
              </a:solidFill>
            </a:endParaRPr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M7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JgiAABQNAAASCQAABAAAAAmAAAACAAAAP//////////MAAAABQAAAAAAAAAAAD//wAAAQAAAP//AAABAA=="/>
              </a:ext>
            </a:extLst>
          </p:cNvSpPr>
          <p:nvPr/>
        </p:nvSpPr>
        <p:spPr>
          <a:xfrm>
            <a:off x="548640" y="5623560"/>
            <a:ext cx="7955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050" i="1" cap="none">
                <a:solidFill>
                  <a:srgbClr val="5B7691"/>
                </a:solidFill>
              </a:rPr>
              <a:t>Assinatura </a:t>
            </a:r>
            <a:r>
              <a:rPr lang="en-us" sz="1050" i="1" cap="none">
                <a:solidFill>
                  <a:srgbClr val="5B7691"/>
                </a:solidFill>
              </a:rPr>
              <a:t>horária </a:t>
            </a:r>
            <a:r>
              <a:rPr lang="en-us" sz="1050" i="1" cap="none">
                <a:solidFill>
                  <a:srgbClr val="5B7691"/>
                </a:solidFill>
              </a:rPr>
              <a:t>por </a:t>
            </a:r>
            <a:r>
              <a:rPr lang="en-us" sz="1050" i="1" cap="none">
                <a:solidFill>
                  <a:srgbClr val="5B7691"/>
                </a:solidFill>
              </a:rPr>
              <a:t>tipo de crime (</a:t>
            </a:r>
            <a:r>
              <a:rPr lang="en-us" sz="1050" i="1" cap="none">
                <a:solidFill>
                  <a:srgbClr val="5B7691"/>
                </a:solidFill>
              </a:rPr>
              <a:t>fração </a:t>
            </a:r>
            <a:r>
              <a:rPr lang="en-us" sz="1050" i="1" cap="none">
                <a:solidFill>
                  <a:srgbClr val="5B7691"/>
                </a:solidFill>
              </a:rPr>
              <a:t>por hora, </a:t>
            </a:r>
            <a:r>
              <a:rPr lang="en-us" sz="1050" i="1" cap="none">
                <a:solidFill>
                  <a:srgbClr val="5B7691"/>
                </a:solidFill>
              </a:rPr>
              <a:t>normalizado </a:t>
            </a:r>
            <a:r>
              <a:rPr lang="en-us" sz="1050" i="1" cap="none">
                <a:solidFill>
                  <a:srgbClr val="5B7691"/>
                </a:solidFill>
              </a:rPr>
              <a:t>por </a:t>
            </a:r>
            <a:r>
              <a:rPr lang="en-us" sz="1050" i="1" cap="none">
                <a:solidFill>
                  <a:srgbClr val="5B7691"/>
                </a:solidFill>
              </a:rPr>
              <a:t>linha)</a:t>
            </a:r>
            <a:endParaRPr lang="en-us" sz="105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HaZ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CABAACgRwAA0AIAABAAAAAmAAAACAAAAP//////////MAAAABQAAAAAAAAAAAD//wAAAQAAAP//AAABAA=="/>
              </a:ext>
            </a:extLst>
          </p:cNvSpPr>
          <p:nvPr/>
        </p:nvSpPr>
        <p:spPr>
          <a:xfrm>
            <a:off x="548640" y="182880"/>
            <a:ext cx="1109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b="1" cap="none" spc="40">
                <a:solidFill>
                  <a:srgbClr val="E0A038"/>
                </a:solidFill>
              </a:rPr>
              <a:t>VISUALIZAÇÃO</a:t>
            </a:r>
            <a:endParaRPr lang="en-us" sz="12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sE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F0CAACgRwAA3QYAABAAAAAmAAAACAAAAP//////////MAAAABQAAAAAAAAAAAD//wAAAQAAAP//AAABAA=="/>
              </a:ext>
            </a:extLst>
          </p:cNvSpPr>
          <p:nvPr/>
        </p:nvSpPr>
        <p:spPr>
          <a:xfrm>
            <a:off x="548640" y="384175"/>
            <a:ext cx="1109472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Visualização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3D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6_kRU2ahMAAAAlAAAAZQAAAA0AAAAAkAAAAEgAAACQAAAASAAAAAAAAAAAAAAAAAAAAAEAAABQAAAAkpbK2xFOuz8AAAAAAADwvwAAAAAAAOA/AAAAAAAA4D8AAAAAAADgPwAAAAAAAOA/AAAAAAAA4D8AAAAAAADgPwAAAAAAAOA/AAAAAAAA4D8CAAAAjAAAAAEAAAAAAAAADyR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E0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DyRAAP///wEAAAAAAAAAAAAAAAAAAAAAAAAAAAAAAAAAAAAAAAAAAAAAAAB/f38AucTQAMvLywDAwP8Af39/AAAAAAAAAAAAAAAAAAAAAAAAAAAAIQAAABgAAAAUAAAAYAMAALAKAAAgEwAAIBMAABAAAAAmAAAACAAAAP//////////MAAAABQAAAAAAAAAAAD//wAAAQAAAP//AAABAA=="/>
              </a:ext>
            </a:extLst>
          </p:cNvSpPr>
          <p:nvPr/>
        </p:nvSpPr>
        <p:spPr>
          <a:xfrm>
            <a:off x="54864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F2440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BgMAAAgEwAAeA8AABAAAAAmAAAACAAAAP//////////MAAAABQAAAAAAAAAAAD//wAAAQAAAP//AAABAA=="/>
              </a:ext>
            </a:extLst>
          </p:cNvSpPr>
          <p:nvPr/>
        </p:nvSpPr>
        <p:spPr>
          <a:xfrm>
            <a:off x="548640" y="1965960"/>
            <a:ext cx="25603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000" b="1" cap="none">
                <a:solidFill>
                  <a:srgbClr val="FFFFF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Longitude</a:t>
            </a:r>
            <a:endParaRPr lang="en-us" sz="2000" cap="none"/>
          </a:p>
        </p:txBody>
      </p:sp>
      <p:sp>
        <p:nvSpPr>
          <p:cNvPr id="6" name="Text 4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MAPAAAgEwAAABIAABAAAAAmAAAACAAAAP//////////MAAAABQAAAAAAAAAAAD//wAAAQAAAP//AAABAA=="/>
              </a:ext>
            </a:extLst>
          </p:cNvSpPr>
          <p:nvPr/>
        </p:nvSpPr>
        <p:spPr>
          <a:xfrm>
            <a:off x="548640" y="2560320"/>
            <a:ext cx="256032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F6E2BC"/>
                </a:solidFill>
              </a:rPr>
              <a:t>eixo X</a:t>
            </a:r>
            <a:endParaRPr lang="en-us" sz="1300" cap="none"/>
          </a:p>
        </p:txBody>
      </p:sp>
      <p:sp>
        <p:nvSpPr>
          <p:cNvPr id="7" name="Shape 5"/>
          <p:cNvSpPr>
            <a:extLst>
              <a:ext uri="smNativeData">
                <pr:smNativeData xmlns:pr="smNativeData" xmlns="smNativeData" val="SMDATA_16_kRU2ahMAAAAlAAAAZQAAAA0AAAAAkAAAAEgAAACQAAAASAAAAAAAAAAAAAAAAAAAAAEAAABQAAAAkpbK2xFOuz8AAAAAAADwvwAAAAAAAOA/AAAAAAAA4D8AAAAAAADgPwAAAAAAAOA/AAAAAAAA4D8AAAAAAADgPwAAAAAAAOA/AAAAAAAA4D8CAAAAjAAAAAEAAAAAAAAAHDpe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HDpeAP///wEAAAAAAAAAAAAAAAAAAAAAAAAAAAAAAAAAAAAAAAAAAAAAAAB/f38AucTQAMvLywDAwP8Af39/AAAAAAAAAAAAAAAAAAAAAAAAAAAAIQAAABgAAAAUAAAAiBQAALAKAABIJAAAIBMAABAAAAAmAAAACAAAAP//////////MAAAABQAAAAAAAAAAAD//wAAAQAAAP//AAABAA=="/>
              </a:ext>
            </a:extLst>
          </p:cNvSpPr>
          <p:nvPr/>
        </p:nvSpPr>
        <p:spPr>
          <a:xfrm>
            <a:off x="333756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C3A5E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8" name="Text 6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CAJf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iBQAABgMAABIJAAAeA8AABAAAAAmAAAACAAAAP//////////MAAAABQAAAAAAAAAAAD//wAAAQAAAP//AAABAA=="/>
              </a:ext>
            </a:extLst>
          </p:cNvSpPr>
          <p:nvPr/>
        </p:nvSpPr>
        <p:spPr>
          <a:xfrm>
            <a:off x="3337560" y="1965960"/>
            <a:ext cx="25603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000" b="1" cap="none">
                <a:solidFill>
                  <a:srgbClr val="FFFFF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Latitude</a:t>
            </a:r>
            <a:endParaRPr lang="en-us" sz="2000" cap="none"/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D+gD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iBQAAMAPAABIJAAAABIAABAAAAAmAAAACAAAAP//////////MAAAABQAAAAAAAAAAAD//wAAAQAAAP//AAABAA=="/>
              </a:ext>
            </a:extLst>
          </p:cNvSpPr>
          <p:nvPr/>
        </p:nvSpPr>
        <p:spPr>
          <a:xfrm>
            <a:off x="3337560" y="2560320"/>
            <a:ext cx="256032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F6E2BC"/>
                </a:solidFill>
              </a:rPr>
              <a:t>eixo Y</a:t>
            </a:r>
            <a:endParaRPr lang="en-us" sz="1300" cap="none"/>
          </a:p>
        </p:txBody>
      </p:sp>
      <p:sp>
        <p:nvSpPr>
          <p:cNvPr id="10" name="Shape 8"/>
          <p:cNvSpPr>
            <a:extLst>
              <a:ext uri="smNativeData">
                <pr:smNativeData xmlns:pr="smNativeData" xmlns="smNativeData" val="SMDATA_16_kRU2ahMAAAAlAAAAZQAAAA0AAAAAkAAAAEgAAACQAAAASAAAAAAAAAAAAAAAAAAAAAEAAABQAAAAkpbK2xFOuz8AAAAAAADwvwAAAAAAAOA/AAAAAAAA4D8AAAAAAADgPwAAAAAAAOA/AAAAAAAA4D8AAAAAAADgPwAAAAAAAOA/AAAAAAAA4D8CAAAAjAAAAAEAAAAAAAAA4KA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P/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4KA4AP///wEAAAAAAAAAAAAAAAAAAAAAAAAAAAAAAAAAAAAAAAAAAAAAAAB/f38AucTQAMvLywDAwP8Af39/AAAAAAAAAAAAAAAAAAAAAAAAAAAAIQAAABgAAAAUAAAAsCUAALAKAABwNQAAIBMAABAAAAAmAAAACAAAAP//////////MAAAABQAAAAAAAAAAAD//wAAAQAAAP//AAABAA=="/>
              </a:ext>
            </a:extLst>
          </p:cNvSpPr>
          <p:nvPr/>
        </p:nvSpPr>
        <p:spPr>
          <a:xfrm>
            <a:off x="612648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0A038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11" name="Text 9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CUAABgMAABwNQAAeA8AABAAAAAmAAAACAAAAP//////////MAAAABQAAAAAAAAAAAD//wAAAQAAAP//AAABAA=="/>
              </a:ext>
            </a:extLst>
          </p:cNvSpPr>
          <p:nvPr/>
        </p:nvSpPr>
        <p:spPr>
          <a:xfrm>
            <a:off x="6126480" y="1965960"/>
            <a:ext cx="25603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000" b="1" cap="none">
                <a:solidFill>
                  <a:srgbClr val="FFFFF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Hora</a:t>
            </a:r>
            <a:endParaRPr lang="en-us" sz="2000" cap="none"/>
          </a:p>
        </p:txBody>
      </p:sp>
      <p:sp>
        <p:nvSpPr>
          <p:cNvPr id="12" name="Text 10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CUAAMAPAABwNQAAABIAABAAAAAmAAAACAAAAP//////////MAAAABQAAAAAAAAAAAD//wAAAQAAAP//AAABAA=="/>
              </a:ext>
            </a:extLst>
          </p:cNvSpPr>
          <p:nvPr/>
        </p:nvSpPr>
        <p:spPr>
          <a:xfrm>
            <a:off x="6126480" y="2560320"/>
            <a:ext cx="256032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0F2440"/>
                </a:solidFill>
              </a:rPr>
              <a:t>eixo Z</a:t>
            </a:r>
            <a:endParaRPr lang="en-us" sz="1300" cap="none"/>
          </a:p>
        </p:txBody>
      </p:sp>
      <p:sp>
        <p:nvSpPr>
          <p:cNvPr id="13" name="Shape 11"/>
          <p:cNvSpPr>
            <a:extLst>
              <a:ext uri="smNativeData">
                <pr:smNativeData xmlns:pr="smNativeData" xmlns="smNativeData" val="SMDATA_16_kRU2ahMAAAAlAAAAZQAAAA0AAAAAkAAAAEgAAACQAAAASAAAAAAAAAAAAAAAAAAAAAEAAABQAAAAkpbK2xFOuz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BAAAAAAAAANjg6AAU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P/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Njg6AB/f38AucTQAMvLywDAwP8Af39/AAAAAAAAAAAAAAAAAAAAAAAAAAAAIQAAABgAAAAUAAAA2DYAALAKAAAoRwAAIBMAABAAAAAmAAAACAAAAP//////////MAAAABQAAAAAAAAAAAD//wAAAQAAAP//AAABAA=="/>
              </a:ext>
            </a:extLst>
          </p:cNvSpPr>
          <p:nvPr/>
        </p:nvSpPr>
        <p:spPr>
          <a:xfrm>
            <a:off x="8915400" y="17373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FF3F8"/>
          </a:solidFill>
          <a:ln w="12700" cap="flat" cmpd="sng" algn="ctr">
            <a:solidFill>
              <a:srgbClr val="D8E0E8"/>
            </a:solidFill>
            <a:prstDash val="solid"/>
            <a:headEnd type="none"/>
            <a:tailEnd type="none"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14" name="Text 12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oAC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2DYAAIANAAAoRwAA4BAAABAAAAAmAAAACAAAAP//////////MAAAABQAAAAAAAAAAAD//wAAAQAAAP//AAABAA=="/>
              </a:ext>
            </a:extLst>
          </p:cNvSpPr>
          <p:nvPr/>
        </p:nvSpPr>
        <p:spPr>
          <a:xfrm>
            <a:off x="8915400" y="2194560"/>
            <a:ext cx="265176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500" b="1" cap="none">
                <a:solidFill>
                  <a:srgbClr val="13314F"/>
                </a:solidFill>
              </a:rPr>
              <a:t>cor = </a:t>
            </a:r>
            <a:r>
              <a:rPr lang="en-us" sz="1500" b="1" cap="none">
                <a:solidFill>
                  <a:srgbClr val="13314F"/>
                </a:solidFill>
              </a:rPr>
              <a:t>tipo de crime</a:t>
            </a:r>
            <a:endParaRPr lang="en-us" sz="1500" cap="none"/>
          </a:p>
        </p:txBody>
      </p:sp>
      <p:sp>
        <p:nvSpPr>
          <p:cNvPr id="15" name="Text 13"/>
          <p:cNvSpPr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ACA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IAWAADgRgAAICUAABAAAAAmAAAACAAAAP//////////MAAAABQAAAAAAAAAAAD//wAAAQAAAP//AAABAA=="/>
              </a:ext>
            </a:extLst>
          </p:cNvSpPr>
          <p:nvPr/>
        </p:nvSpPr>
        <p:spPr>
          <a:xfrm>
            <a:off x="548640" y="3657600"/>
            <a:ext cx="10972800" cy="23774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177800" indent="-177800" algn="l">
              <a:spcAft>
                <a:spcPts val="800"/>
              </a:spcAft>
              <a:buSzTx/>
              <a:buChar char="•"/>
            </a:pPr>
            <a:r>
              <a:rPr lang="en-us" sz="1600" cap="none">
                <a:solidFill>
                  <a:srgbClr val="283441"/>
                </a:solidFill>
              </a:rPr>
              <a:t>Mostra </a:t>
            </a:r>
            <a:r>
              <a:rPr lang="en-us" sz="1600" cap="none">
                <a:solidFill>
                  <a:srgbClr val="283441"/>
                </a:solidFill>
              </a:rPr>
              <a:t>espaço (longitude/latitude) e tempo (hora) </a:t>
            </a:r>
            <a:r>
              <a:rPr lang="en-us" sz="1600" cap="none">
                <a:solidFill>
                  <a:srgbClr val="283441"/>
                </a:solidFill>
              </a:rPr>
              <a:t>ao </a:t>
            </a:r>
            <a:r>
              <a:rPr lang="en-us" sz="1600" cap="none">
                <a:solidFill>
                  <a:srgbClr val="283441"/>
                </a:solidFill>
              </a:rPr>
              <a:t>mesmo tempo, </a:t>
            </a:r>
            <a:r>
              <a:rPr lang="en-us" sz="1600" cap="none">
                <a:solidFill>
                  <a:srgbClr val="283441"/>
                </a:solidFill>
              </a:rPr>
              <a:t>com o </a:t>
            </a:r>
            <a:r>
              <a:rPr lang="en-us" sz="1600" cap="none">
                <a:solidFill>
                  <a:srgbClr val="283441"/>
                </a:solidFill>
              </a:rPr>
              <a:t>tipo de crime </a:t>
            </a:r>
            <a:r>
              <a:rPr lang="en-us" sz="1600" cap="none">
                <a:solidFill>
                  <a:srgbClr val="283441"/>
                </a:solidFill>
              </a:rPr>
              <a:t>na </a:t>
            </a:r>
            <a:r>
              <a:rPr lang="en-us" sz="1600" cap="none">
                <a:solidFill>
                  <a:srgbClr val="283441"/>
                </a:solidFill>
              </a:rPr>
              <a:t>cor.Serve </a:t>
            </a:r>
            <a:r>
              <a:rPr lang="en-us" sz="1600" cap="none">
                <a:solidFill>
                  <a:srgbClr val="283441"/>
                </a:solidFill>
              </a:rPr>
              <a:t>para </a:t>
            </a:r>
            <a:r>
              <a:rPr lang="en-us" sz="1600" cap="none">
                <a:solidFill>
                  <a:srgbClr val="283441"/>
                </a:solidFill>
              </a:rPr>
              <a:t>enxergar </a:t>
            </a:r>
            <a:r>
              <a:rPr lang="en-us" sz="1600" cap="none">
                <a:solidFill>
                  <a:srgbClr val="283441"/>
                </a:solidFill>
              </a:rPr>
              <a:t>padrão e </a:t>
            </a:r>
            <a:r>
              <a:rPr lang="en-us" sz="1600" cap="none">
                <a:solidFill>
                  <a:srgbClr val="283441"/>
                </a:solidFill>
              </a:rPr>
              <a:t>gerar </a:t>
            </a:r>
            <a:r>
              <a:rPr lang="en-us" sz="1600" cap="none">
                <a:solidFill>
                  <a:srgbClr val="283441"/>
                </a:solidFill>
              </a:rPr>
              <a:t>hipótese — é </a:t>
            </a:r>
            <a:r>
              <a:rPr lang="en-us" sz="1600" cap="none">
                <a:solidFill>
                  <a:srgbClr val="283441"/>
                </a:solidFill>
              </a:rPr>
              <a:t>apoio visual, </a:t>
            </a:r>
            <a:r>
              <a:rPr lang="en-us" sz="1600" cap="none">
                <a:solidFill>
                  <a:srgbClr val="283441"/>
                </a:solidFill>
              </a:rPr>
              <a:t>não </a:t>
            </a:r>
            <a:r>
              <a:rPr lang="en-us" sz="1600" cap="none">
                <a:solidFill>
                  <a:srgbClr val="283441"/>
                </a:solidFill>
              </a:rPr>
              <a:t>uma </a:t>
            </a:r>
            <a:r>
              <a:rPr lang="en-us" sz="1600" cap="none">
                <a:solidFill>
                  <a:srgbClr val="283441"/>
                </a:solidFill>
              </a:rPr>
              <a:t>métrica.Arquivo </a:t>
            </a:r>
            <a:r>
              <a:rPr lang="en-us" sz="1600" cap="none">
                <a:solidFill>
                  <a:srgbClr val="283441"/>
                </a:solidFill>
              </a:rPr>
              <a:t>interativo: reports/figures/crimes_</a:t>
            </a:r>
            <a:r>
              <a:rPr lang="en-us" sz="1600" cap="none">
                <a:solidFill>
                  <a:srgbClr val="283441"/>
                </a:solidFill>
              </a:rPr>
              <a:t>3d_long_</a:t>
            </a:r>
            <a:r>
              <a:rPr lang="en-us" sz="1600" cap="none">
                <a:solidFill>
                  <a:srgbClr val="283441"/>
                </a:solidFill>
              </a:rPr>
              <a:t>lat_</a:t>
            </a:r>
            <a:r>
              <a:rPr lang="en-us" sz="1600" cap="none">
                <a:solidFill>
                  <a:srgbClr val="283441"/>
                </a:solidFill>
              </a:rPr>
              <a:t>tempo.html</a:t>
            </a:r>
            <a:endParaRPr lang="en-us" sz="1600" cap="none">
              <a:solidFill>
                <a:srgbClr val="28344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A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CABAACgRwAA0AIAABAAAAAmAAAACAAAAP//////////MAAAABQAAAAAAAAAAAD//wAAAQAAAP//AAABAA=="/>
              </a:ext>
            </a:extLst>
          </p:cNvSpPr>
          <p:nvPr/>
        </p:nvSpPr>
        <p:spPr>
          <a:xfrm>
            <a:off x="548640" y="182880"/>
            <a:ext cx="1109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b="1" cap="none" spc="40">
                <a:solidFill>
                  <a:srgbClr val="E0A038"/>
                </a:solidFill>
              </a:rPr>
              <a:t>NÃO </a:t>
            </a:r>
            <a:r>
              <a:rPr lang="en-us" sz="1200" b="1" cap="none" spc="40">
                <a:solidFill>
                  <a:srgbClr val="E0A038"/>
                </a:solidFill>
              </a:rPr>
              <a:t>SUPERVISIONADO</a:t>
            </a:r>
            <a:endParaRPr lang="en-us" sz="12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AocT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F0CAACgRwAA3QYAABAAAAAmAAAACAAAAP//////////MAAAABQAAAAAAAAAAAD//wAAAQAAAP//AAABAA=="/>
              </a:ext>
            </a:extLst>
          </p:cNvSpPr>
          <p:nvPr/>
        </p:nvSpPr>
        <p:spPr>
          <a:xfrm>
            <a:off x="548640" y="384175"/>
            <a:ext cx="1109472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Clusterização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6_kRU2ahMAAAAlAAAAZQAAAA0AAAAAkAAAAEgAAACQAAAASAAAAAAAAAAAAAAAAAAAAAEAAABQAAAAyCQjZ2FPqz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PEE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AAAAAB/f38AucTQAMvLywDAwP8Af39/AAAAAAAAAAAAAAAAAAAAAAAAAAAAIQAAABgAAAAUAAAAYAMAALgIAABAQQAAmBkAABAAAAAmAAAACAAAAP//////////MAAAABQAAAAAAAAAAAD//wAAAQAAAP//AAABAA=="/>
              </a:ext>
            </a:extLst>
          </p:cNvSpPr>
          <p:nvPr/>
        </p:nvSpPr>
        <p:spPr>
          <a:xfrm>
            <a:off x="548640" y="1417320"/>
            <a:ext cx="10058400" cy="2743200"/>
          </a:xfrm>
          <a:prstGeom prst="roundRect">
            <a:avLst>
              <a:gd name="adj" fmla="val 2667"/>
            </a:avLst>
          </a:prstGeom>
          <a:solidFill>
            <a:srgbClr val="EFF3F8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pic>
        <p:nvPicPr>
          <p:cNvPr id="5" name="Image 0" descr="C:/GIT/crime-sp-ml/crime-sp-ml/reports/figures/silhouette_kmeans.png"/>
          <p:cNvPicPr>
            <a:picLocks noChangeAspect="1"/>
            <a:extLst>
              <a:ext uri="smNativeData">
                <pr:smNativeData xmlns:pr="smNativeData" xmlns="smNativeData" val="SMDATA_18_kRU2ah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IAEAACQCQAAIEAAAMAYAAAQAAAAJgAAAAgAAAD//////////zAAAAAUAAAAAAAAAAAA//8AAAEAAAD//wAAAQA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9692640" cy="2468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 3"/>
          <p:cNvSpPr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AAbAADgRgAA0CYAABAAAAAmAAAACAAAAP//////////MAAAABQAAAAAAAAAAAD//wAAAQAAAP//AAABAA=="/>
              </a:ext>
            </a:extLst>
          </p:cNvSpPr>
          <p:nvPr/>
        </p:nvSpPr>
        <p:spPr>
          <a:xfrm>
            <a:off x="548640" y="4389120"/>
            <a:ext cx="10972800" cy="1920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177800" indent="-177800" algn="l">
              <a:spcAft>
                <a:spcPts val="800"/>
              </a:spcAft>
              <a:buSzTx/>
              <a:buChar char="•"/>
            </a:pPr>
            <a:r>
              <a:rPr lang="en-us" sz="1550" cap="none">
                <a:solidFill>
                  <a:srgbClr val="283441"/>
                </a:solidFill>
              </a:rPr>
              <a:t>KMeans </a:t>
            </a:r>
            <a:r>
              <a:rPr lang="en-us" sz="1550" cap="none">
                <a:solidFill>
                  <a:srgbClr val="283441"/>
                </a:solidFill>
              </a:rPr>
              <a:t>com latitude, longitude e hora (</a:t>
            </a:r>
            <a:r>
              <a:rPr lang="en-us" sz="1550" cap="none">
                <a:solidFill>
                  <a:srgbClr val="283441"/>
                </a:solidFill>
              </a:rPr>
              <a:t>seno/</a:t>
            </a:r>
            <a:r>
              <a:rPr lang="en-us" sz="1550" cap="none">
                <a:solidFill>
                  <a:srgbClr val="283441"/>
                </a:solidFill>
              </a:rPr>
              <a:t>cosseno); k = </a:t>
            </a:r>
            <a:r>
              <a:rPr lang="en-us" sz="1550" cap="none">
                <a:solidFill>
                  <a:srgbClr val="283441"/>
                </a:solidFill>
              </a:rPr>
              <a:t>9.</a:t>
            </a:r>
            <a:r>
              <a:rPr lang="en-us" sz="1550" b="1" cap="none">
                <a:solidFill>
                  <a:srgbClr val="283441"/>
                </a:solidFill>
              </a:rPr>
              <a:t>Silhouette ≈ 0,32 — </a:t>
            </a:r>
            <a:r>
              <a:rPr lang="en-us" sz="1550" b="1" cap="none">
                <a:solidFill>
                  <a:srgbClr val="283441"/>
                </a:solidFill>
              </a:rPr>
              <a:t>grupos </a:t>
            </a:r>
            <a:r>
              <a:rPr lang="en-us" sz="1550" b="1" cap="none">
                <a:solidFill>
                  <a:srgbClr val="283441"/>
                </a:solidFill>
              </a:rPr>
              <a:t>pouco </a:t>
            </a:r>
            <a:r>
              <a:rPr lang="en-us" sz="1550" b="1" cap="none">
                <a:solidFill>
                  <a:srgbClr val="283441"/>
                </a:solidFill>
              </a:rPr>
              <a:t>separados, </a:t>
            </a:r>
            <a:r>
              <a:rPr lang="en-us" sz="1550" b="1" cap="none">
                <a:solidFill>
                  <a:srgbClr val="283441"/>
                </a:solidFill>
              </a:rPr>
              <a:t>muita </a:t>
            </a:r>
            <a:r>
              <a:rPr lang="en-us" sz="1550" b="1" cap="none">
                <a:solidFill>
                  <a:srgbClr val="283441"/>
                </a:solidFill>
              </a:rPr>
              <a:t>sobreposição.DBSCAN e </a:t>
            </a:r>
            <a:r>
              <a:rPr lang="en-us" sz="1550" b="1" cap="none">
                <a:solidFill>
                  <a:srgbClr val="283441"/>
                </a:solidFill>
              </a:rPr>
              <a:t>HDBSCAN </a:t>
            </a:r>
            <a:r>
              <a:rPr lang="en-us" sz="1550" b="1" cap="none">
                <a:solidFill>
                  <a:srgbClr val="283441"/>
                </a:solidFill>
              </a:rPr>
              <a:t>foram </a:t>
            </a:r>
            <a:r>
              <a:rPr lang="en-us" sz="1550" b="1" cap="none">
                <a:solidFill>
                  <a:srgbClr val="283441"/>
                </a:solidFill>
              </a:rPr>
              <a:t>instáveis (de 1 cluster a </a:t>
            </a:r>
            <a:r>
              <a:rPr lang="en-us" sz="1550" b="1" cap="none">
                <a:solidFill>
                  <a:srgbClr val="283441"/>
                </a:solidFill>
              </a:rPr>
              <a:t>dezenas, </a:t>
            </a:r>
            <a:r>
              <a:rPr lang="en-us" sz="1550" b="1" cap="none">
                <a:solidFill>
                  <a:srgbClr val="283441"/>
                </a:solidFill>
              </a:rPr>
              <a:t>ou 56–80% de </a:t>
            </a:r>
            <a:r>
              <a:rPr lang="en-us" sz="1550" b="1" cap="none">
                <a:solidFill>
                  <a:srgbClr val="283441"/>
                </a:solidFill>
              </a:rPr>
              <a:t>ruído).</a:t>
            </a:r>
            <a:endParaRPr lang="en-us" sz="1550" b="1" cap="none">
              <a:solidFill>
                <a:srgbClr val="28344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B5BI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CABAACgRwAA0AIAABAAAAAmAAAACAAAAP//////////MAAAABQAAAAAAAAAAAD//wAAAQAAAP//AAABAA=="/>
              </a:ext>
            </a:extLst>
          </p:cNvSpPr>
          <p:nvPr/>
        </p:nvSpPr>
        <p:spPr>
          <a:xfrm>
            <a:off x="548640" y="182880"/>
            <a:ext cx="1109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b="1" cap="none" spc="40">
                <a:solidFill>
                  <a:srgbClr val="E0A038"/>
                </a:solidFill>
              </a:rPr>
              <a:t>HIPÓTESE, </a:t>
            </a:r>
            <a:r>
              <a:rPr lang="en-us" sz="1200" b="1" cap="none" spc="40">
                <a:solidFill>
                  <a:srgbClr val="E0A038"/>
                </a:solidFill>
              </a:rPr>
              <a:t>NÃO </a:t>
            </a:r>
            <a:r>
              <a:rPr lang="en-us" sz="1200" b="1" cap="none" spc="40">
                <a:solidFill>
                  <a:srgbClr val="E0A038"/>
                </a:solidFill>
              </a:rPr>
              <a:t>PROVA</a:t>
            </a:r>
            <a:endParaRPr lang="en-us" sz="12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DpVD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F0CAACgRwAA3QYAABAAAAAmAAAACAAAAP//////////MAAAABQAAAAAAAAAAAD//wAAAQAAAP//AAABAA=="/>
              </a:ext>
            </a:extLst>
          </p:cNvSpPr>
          <p:nvPr/>
        </p:nvSpPr>
        <p:spPr>
          <a:xfrm>
            <a:off x="548640" y="384175"/>
            <a:ext cx="1109472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O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que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os clusters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sugerem</a:t>
            </a:r>
            <a:endParaRPr lang="en-us" sz="30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LgIAABwRwAAiAsAABAAAAAmAAAACAAAAP//////////MAAAABQAAAAAAAAAAAD//wAAAQAAAP//AAABAA=="/>
              </a:ext>
            </a:extLst>
          </p:cNvSpPr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cap="none">
                <a:solidFill>
                  <a:srgbClr val="283441"/>
                </a:solidFill>
              </a:rPr>
              <a:t>Os </a:t>
            </a:r>
            <a:r>
              <a:rPr lang="en-us" sz="1500" cap="none">
                <a:solidFill>
                  <a:srgbClr val="283441"/>
                </a:solidFill>
              </a:rPr>
              <a:t>quatro </a:t>
            </a:r>
            <a:r>
              <a:rPr lang="en-us" sz="1500" cap="none">
                <a:solidFill>
                  <a:srgbClr val="283441"/>
                </a:solidFill>
              </a:rPr>
              <a:t>maiores </a:t>
            </a:r>
            <a:r>
              <a:rPr lang="en-us" sz="1500" cap="none">
                <a:solidFill>
                  <a:srgbClr val="283441"/>
                </a:solidFill>
              </a:rPr>
              <a:t>grupos </a:t>
            </a:r>
            <a:r>
              <a:rPr lang="en-us" sz="1500" cap="none">
                <a:solidFill>
                  <a:srgbClr val="283441"/>
                </a:solidFill>
              </a:rPr>
              <a:t>ficam </a:t>
            </a:r>
            <a:r>
              <a:rPr lang="en-us" sz="1500" cap="none">
                <a:solidFill>
                  <a:srgbClr val="283441"/>
                </a:solidFill>
              </a:rPr>
              <a:t>na </a:t>
            </a:r>
            <a:r>
              <a:rPr lang="en-us" sz="1500" cap="none">
                <a:solidFill>
                  <a:srgbClr val="283441"/>
                </a:solidFill>
              </a:rPr>
              <a:t>MESMA </a:t>
            </a:r>
            <a:r>
              <a:rPr lang="en-us" sz="1500" cap="none">
                <a:solidFill>
                  <a:srgbClr val="283441"/>
                </a:solidFill>
              </a:rPr>
              <a:t>região central — e </a:t>
            </a:r>
            <a:r>
              <a:rPr lang="en-us" sz="1500" cap="none">
                <a:solidFill>
                  <a:srgbClr val="283441"/>
                </a:solidFill>
              </a:rPr>
              <a:t>se </a:t>
            </a:r>
            <a:r>
              <a:rPr lang="en-us" sz="1500" cap="none">
                <a:solidFill>
                  <a:srgbClr val="283441"/>
                </a:solidFill>
              </a:rPr>
              <a:t>diferenciam </a:t>
            </a:r>
            <a:r>
              <a:rPr lang="en-us" sz="1500" cap="none">
                <a:solidFill>
                  <a:srgbClr val="283441"/>
                </a:solidFill>
              </a:rPr>
              <a:t>pelo </a:t>
            </a:r>
            <a:r>
              <a:rPr lang="en-us" sz="1500" cap="none">
                <a:solidFill>
                  <a:srgbClr val="283441"/>
                </a:solidFill>
              </a:rPr>
              <a:t>horário:</a:t>
            </a:r>
            <a:endParaRPr lang="en-us" sz="1500" cap="none"/>
          </a:p>
        </p:txBody>
      </p:sp>
      <p:sp>
        <p:nvSpPr>
          <p:cNvPr id="5" name="Shape 3"/>
          <p:cNvSpPr>
            <a:extLst>
              <a:ext uri="smNativeData">
                <pr:smNativeData xmlns:pr="smNativeData" xmlns="smNativeData" val="SMDATA_16_kRU2ahMAAAAlAAAAZQAAAA0AAAAAkAAAAEgAAACQAAAASAAAAAAAAAAAAAAAAAAAAAEAAABQAAAA8UbmkT8YuD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BAAAAAAAAANjg6AAU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Njg6AB/f38AucTQAMvLywDAwP8Af39/AAAAAAAAAAAAAAAAAAAAAAAAAAAAIQAAABgAAAAUAAAAYAMAAGAMAABoEwAA8BUAABAAAAAmAAAACAAAAP//////////MAAAABQAAAAAAAAAAAD//wAAAQAAAP//AAABAA=="/>
              </a:ext>
            </a:extLst>
          </p:cNvSpPr>
          <p:nvPr/>
        </p:nvSpPr>
        <p:spPr>
          <a:xfrm>
            <a:off x="548640" y="2011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FF3F8"/>
          </a:solidFill>
          <a:ln w="12700" cap="flat" cmpd="sng" algn="ctr">
            <a:solidFill>
              <a:srgbClr val="D8E0E8"/>
            </a:solidFill>
            <a:prstDash val="solid"/>
            <a:headEnd type="none"/>
            <a:tailEnd type="none"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A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IANAABoEwAAcBEAABAAAAAmAAAACAAAAP//////////MAAAABQAAAAAAAAAAAD//wAAAQAAAP//AAABAA=="/>
              </a:ext>
            </a:extLst>
          </p:cNvSpPr>
          <p:nvPr/>
        </p:nvSpPr>
        <p:spPr>
          <a:xfrm>
            <a:off x="548640" y="2194560"/>
            <a:ext cx="26060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3000" b="1" cap="none">
                <a:solidFill>
                  <a:srgbClr val="13314F"/>
                </a:solidFill>
              </a:rPr>
              <a:t>~</a:t>
            </a:r>
            <a:r>
              <a:rPr lang="en-us" sz="3000" b="1" cap="none">
                <a:solidFill>
                  <a:srgbClr val="13314F"/>
                </a:solidFill>
              </a:rPr>
              <a:t>3h</a:t>
            </a:r>
            <a:endParaRPr lang="en-us" sz="30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gQ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LgRAABoEwAAiBQAABAAAAAmAAAACAAAAP//////////MAAAABQAAAAAAAAAAAD//wAAAQAAAP//AAABAA=="/>
              </a:ext>
            </a:extLst>
          </p:cNvSpPr>
          <p:nvPr/>
        </p:nvSpPr>
        <p:spPr>
          <a:xfrm>
            <a:off x="548640" y="2880360"/>
            <a:ext cx="26060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500" cap="none">
                <a:solidFill>
                  <a:srgbClr val="5B7691"/>
                </a:solidFill>
              </a:rPr>
              <a:t>Madrugada</a:t>
            </a:r>
            <a:endParaRPr lang="en-us" sz="1500" cap="none"/>
          </a:p>
        </p:txBody>
      </p:sp>
      <p:sp>
        <p:nvSpPr>
          <p:cNvPr id="8" name="Shape 6"/>
          <p:cNvSpPr>
            <a:extLst>
              <a:ext uri="smNativeData">
                <pr:smNativeData xmlns:pr="smNativeData" xmlns="smNativeData" val="SMDATA_16_kRU2ahMAAAAlAAAAZQAAAA0AAAAAkAAAAEgAAACQAAAASAAAAAAAAAAAAAAAAAAAAAEAAABQAAAA8UbmkT8YuD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BAAAAAAAAANjg6AAU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Njg6AB/f38AucTQAMvLywDAwP8Af39/AAAAAAAAAAAAAAAAAAAAAAAAAAAAIQAAABgAAAAUAAAAsxQAAGAMAAC7JAAA8BUAABAAAAAmAAAACAAAAP//////////MAAAABQAAAAAAAAAAAD//wAAAQAAAP//AAABAA=="/>
              </a:ext>
            </a:extLst>
          </p:cNvSpPr>
          <p:nvPr/>
        </p:nvSpPr>
        <p:spPr>
          <a:xfrm>
            <a:off x="3364865" y="2011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FF3F8"/>
          </a:solidFill>
          <a:ln w="12700" cap="flat" cmpd="sng" algn="ctr">
            <a:solidFill>
              <a:srgbClr val="D8E0E8"/>
            </a:solidFill>
            <a:prstDash val="solid"/>
            <a:headEnd type="none"/>
            <a:tailEnd type="none"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9" name="Text 7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Y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xQAAIANAAC7JAAAcBEAABAAAAAmAAAACAAAAP//////////MAAAABQAAAAAAAAAAAD//wAAAQAAAP//AAABAA=="/>
              </a:ext>
            </a:extLst>
          </p:cNvSpPr>
          <p:nvPr/>
        </p:nvSpPr>
        <p:spPr>
          <a:xfrm>
            <a:off x="3364865" y="2194560"/>
            <a:ext cx="26060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3000" b="1" cap="none">
                <a:solidFill>
                  <a:srgbClr val="13314F"/>
                </a:solidFill>
              </a:rPr>
              <a:t>~</a:t>
            </a:r>
            <a:r>
              <a:rPr lang="en-us" sz="3000" b="1" cap="none">
                <a:solidFill>
                  <a:srgbClr val="13314F"/>
                </a:solidFill>
              </a:rPr>
              <a:t>9h</a:t>
            </a:r>
            <a:endParaRPr lang="en-us" sz="3000" cap="none"/>
          </a:p>
        </p:txBody>
      </p:sp>
      <p:sp>
        <p:nvSpPr>
          <p:cNvPr id="10" name="Text 8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xQAALgRAAC7JAAAiBQAABAAAAAmAAAACAAAAP//////////MAAAABQAAAAAAAAAAAD//wAAAQAAAP//AAABAA=="/>
              </a:ext>
            </a:extLst>
          </p:cNvSpPr>
          <p:nvPr/>
        </p:nvSpPr>
        <p:spPr>
          <a:xfrm>
            <a:off x="3364865" y="2880360"/>
            <a:ext cx="26060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500" cap="none">
                <a:solidFill>
                  <a:srgbClr val="5B7691"/>
                </a:solidFill>
              </a:rPr>
              <a:t>Manhã</a:t>
            </a:r>
            <a:endParaRPr lang="en-us" sz="1500" cap="none"/>
          </a:p>
        </p:txBody>
      </p:sp>
      <p:sp>
        <p:nvSpPr>
          <p:cNvPr id="11" name="Shape 9"/>
          <p:cNvSpPr>
            <a:extLst>
              <a:ext uri="smNativeData">
                <pr:smNativeData xmlns:pr="smNativeData" xmlns="smNativeData" val="SMDATA_16_kRU2ahMAAAAlAAAAZQAAAA0AAAAAkAAAAEgAAACQAAAASAAAAAAAAAAAAAAAAAAAAAEAAABQAAAA8UbmkT8YuD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BAAAAAAAAANjg6AAU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P/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Njg6AB/f38AucTQAMvLywDAwP8Af39/AAAAAAAAAAAAAAAAAAAAAAAAAAAAIQAAABgAAAAUAAAABiYAAGAMAAAONgAA8BUAABAAAAAmAAAACAAAAP//////////MAAAABQAAAAAAAAAAAD//wAAAQAAAP//AAABAA=="/>
              </a:ext>
            </a:extLst>
          </p:cNvSpPr>
          <p:nvPr/>
        </p:nvSpPr>
        <p:spPr>
          <a:xfrm>
            <a:off x="6181090" y="2011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FF3F8"/>
          </a:solidFill>
          <a:ln w="12700" cap="flat" cmpd="sng" algn="ctr">
            <a:solidFill>
              <a:srgbClr val="D8E0E8"/>
            </a:solidFill>
            <a:prstDash val="solid"/>
            <a:headEnd type="none"/>
            <a:tailEnd type="none"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12" name="Text 10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BiYAAIANAAAONgAAcBEAABAAAAAmAAAACAAAAP//////////MAAAABQAAAAAAAAAAAD//wAAAQAAAP//AAABAA=="/>
              </a:ext>
            </a:extLst>
          </p:cNvSpPr>
          <p:nvPr/>
        </p:nvSpPr>
        <p:spPr>
          <a:xfrm>
            <a:off x="6181090" y="2194560"/>
            <a:ext cx="26060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3000" b="1" cap="none">
                <a:solidFill>
                  <a:srgbClr val="13314F"/>
                </a:solidFill>
              </a:rPr>
              <a:t>~</a:t>
            </a:r>
            <a:r>
              <a:rPr lang="en-us" sz="3000" b="1" cap="none">
                <a:solidFill>
                  <a:srgbClr val="13314F"/>
                </a:solidFill>
              </a:rPr>
              <a:t>15h</a:t>
            </a:r>
            <a:endParaRPr lang="en-us" sz="3000" cap="none"/>
          </a:p>
        </p:txBody>
      </p:sp>
      <p:sp>
        <p:nvSpPr>
          <p:cNvPr id="13" name="Text 11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w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BiYAALgRAAAONgAAiBQAABAAAAAmAAAACAAAAP//////////MAAAABQAAAAAAAAAAAD//wAAAQAAAP//AAABAA=="/>
              </a:ext>
            </a:extLst>
          </p:cNvSpPr>
          <p:nvPr/>
        </p:nvSpPr>
        <p:spPr>
          <a:xfrm>
            <a:off x="6181090" y="2880360"/>
            <a:ext cx="26060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500" cap="none">
                <a:solidFill>
                  <a:srgbClr val="5B7691"/>
                </a:solidFill>
              </a:rPr>
              <a:t>Tarde</a:t>
            </a:r>
            <a:endParaRPr lang="en-us" sz="1500" cap="none"/>
          </a:p>
        </p:txBody>
      </p:sp>
      <p:sp>
        <p:nvSpPr>
          <p:cNvPr id="14" name="Shape 12"/>
          <p:cNvSpPr>
            <a:extLst>
              <a:ext uri="smNativeData">
                <pr:smNativeData xmlns:pr="smNativeData" xmlns="smNativeData" val="SMDATA_16_kRU2ahMAAAAlAAAAZQAAAA0AAAAAkAAAAEgAAACQAAAASAAAAAAAAAAAAAAAAAAAAAEAAABQAAAA8UbmkT8YuD8AAAAAAADwvwAAAAAAAOA/AAAAAAAA4D8AAAAAAADgPwAAAAAAAOA/AAAAAAAA4D8AAAAAAADgPwAAAAAAAOA/AAAAAAAA4D8CAAAAjAAAAAEAAAAAAAAADyR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Cs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DyRAAP///wEAAAAAAAAAAAAAAAAAAAAAAAAAAAAAAAAAAAAAAAAAAAAAAAB/f38AucTQAMvLywDAwP8Af39/AAAAAAAAAAAAAAAAAAAAAAAAAAAAIQAAABgAAAAUAAAAWjcAAGAMAABiRwAA8BUAABAAAAAmAAAACAAAAP//////////MAAAABQAAAAAAAAAAAD//wAAAQAAAP//AAABAA=="/>
              </a:ext>
            </a:extLst>
          </p:cNvSpPr>
          <p:nvPr/>
        </p:nvSpPr>
        <p:spPr>
          <a:xfrm>
            <a:off x="8997950" y="2011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F2440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15" name="Text 13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oJ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jcAAIANAABiRwAAcBEAABAAAAAmAAAACAAAAP//////////MAAAABQAAAAAAAAAAAD//wAAAQAAAP//AAABAA=="/>
              </a:ext>
            </a:extLst>
          </p:cNvSpPr>
          <p:nvPr/>
        </p:nvSpPr>
        <p:spPr>
          <a:xfrm>
            <a:off x="8997950" y="2194560"/>
            <a:ext cx="26060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3000" b="1" cap="none">
                <a:solidFill>
                  <a:srgbClr val="E0A038"/>
                </a:solidFill>
              </a:rPr>
              <a:t>~</a:t>
            </a:r>
            <a:r>
              <a:rPr lang="en-us" sz="3000" b="1" cap="none">
                <a:solidFill>
                  <a:srgbClr val="E0A038"/>
                </a:solidFill>
              </a:rPr>
              <a:t>20h</a:t>
            </a:r>
            <a:endParaRPr lang="en-us" sz="3000" cap="none"/>
          </a:p>
        </p:txBody>
      </p:sp>
      <p:sp>
        <p:nvSpPr>
          <p:cNvPr id="16" name="Text 14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jcAALgRAABiRwAAiBQAABAAAAAmAAAACAAAAP//////////MAAAABQAAAAAAAAAAAD//wAAAQAAAP//AAABAA=="/>
              </a:ext>
            </a:extLst>
          </p:cNvSpPr>
          <p:nvPr/>
        </p:nvSpPr>
        <p:spPr>
          <a:xfrm>
            <a:off x="8997950" y="2880360"/>
            <a:ext cx="26060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500" cap="none">
                <a:solidFill>
                  <a:srgbClr val="FFFFFF"/>
                </a:solidFill>
              </a:rPr>
              <a:t>Noite</a:t>
            </a:r>
            <a:endParaRPr lang="en-us" sz="1500" cap="none"/>
          </a:p>
        </p:txBody>
      </p:sp>
      <p:sp>
        <p:nvSpPr>
          <p:cNvPr id="17" name="Text 15"/>
          <p:cNvSpPr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Q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OgXAADgRgAAaCUAABAAAAAmAAAACAAAAP//////////MAAAABQAAAAAAAAAAAD//wAAAQAAAP//AAABAA=="/>
              </a:ext>
            </a:extLst>
          </p:cNvSpPr>
          <p:nvPr/>
        </p:nvSpPr>
        <p:spPr>
          <a:xfrm>
            <a:off x="548640" y="3886200"/>
            <a:ext cx="10972800" cy="21945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177800" indent="-177800" algn="l">
              <a:spcAft>
                <a:spcPts val="800"/>
              </a:spcAft>
              <a:buSzTx/>
              <a:buChar char="•"/>
            </a:pPr>
            <a:r>
              <a:rPr lang="en-us" sz="1500" b="1" cap="none">
                <a:solidFill>
                  <a:srgbClr val="283441"/>
                </a:solidFill>
              </a:rPr>
              <a:t>O </a:t>
            </a:r>
            <a:r>
              <a:rPr lang="en-us" sz="1500" b="1" cap="none">
                <a:solidFill>
                  <a:srgbClr val="283441"/>
                </a:solidFill>
              </a:rPr>
              <a:t>que a </a:t>
            </a:r>
            <a:r>
              <a:rPr lang="en-us" sz="1500" b="1" cap="none">
                <a:solidFill>
                  <a:srgbClr val="283441"/>
                </a:solidFill>
              </a:rPr>
              <a:t>localização junta, o </a:t>
            </a:r>
            <a:r>
              <a:rPr lang="en-us" sz="1500" b="1" cap="none">
                <a:solidFill>
                  <a:srgbClr val="283441"/>
                </a:solidFill>
              </a:rPr>
              <a:t>horário </a:t>
            </a:r>
            <a:r>
              <a:rPr lang="en-us" sz="1500" b="1" cap="none">
                <a:solidFill>
                  <a:srgbClr val="283441"/>
                </a:solidFill>
              </a:rPr>
              <a:t>separa — conversa </a:t>
            </a:r>
            <a:r>
              <a:rPr lang="en-us" sz="1500" b="1" cap="none">
                <a:solidFill>
                  <a:srgbClr val="283441"/>
                </a:solidFill>
              </a:rPr>
              <a:t>com a </a:t>
            </a:r>
            <a:r>
              <a:rPr lang="en-us" sz="1500" b="1" cap="none">
                <a:solidFill>
                  <a:srgbClr val="283441"/>
                </a:solidFill>
              </a:rPr>
              <a:t>pergunta do </a:t>
            </a:r>
            <a:r>
              <a:rPr lang="en-us" sz="1500" b="1" cap="none">
                <a:solidFill>
                  <a:srgbClr val="283441"/>
                </a:solidFill>
              </a:rPr>
              <a:t>trabalho.Furto e </a:t>
            </a:r>
            <a:r>
              <a:rPr lang="en-us" sz="1500" b="1" cap="none">
                <a:solidFill>
                  <a:srgbClr val="283441"/>
                </a:solidFill>
              </a:rPr>
              <a:t>Roubo </a:t>
            </a:r>
            <a:r>
              <a:rPr lang="en-us" sz="1500" b="1" cap="none">
                <a:solidFill>
                  <a:srgbClr val="283441"/>
                </a:solidFill>
              </a:rPr>
              <a:t>aparecem no topo de </a:t>
            </a:r>
            <a:r>
              <a:rPr lang="en-us" sz="1500" b="1" cap="none">
                <a:solidFill>
                  <a:srgbClr val="283441"/>
                </a:solidFill>
              </a:rPr>
              <a:t>todos </a:t>
            </a:r>
            <a:r>
              <a:rPr lang="en-us" sz="1500" b="1" cap="none">
                <a:solidFill>
                  <a:srgbClr val="283441"/>
                </a:solidFill>
              </a:rPr>
              <a:t>os </a:t>
            </a:r>
            <a:r>
              <a:rPr lang="en-us" sz="1500" b="1" cap="none">
                <a:solidFill>
                  <a:srgbClr val="283441"/>
                </a:solidFill>
              </a:rPr>
              <a:t>grupos: o </a:t>
            </a:r>
            <a:r>
              <a:rPr lang="en-us" sz="1500" b="1" cap="none">
                <a:solidFill>
                  <a:srgbClr val="283441"/>
                </a:solidFill>
              </a:rPr>
              <a:t>desbalanceamento </a:t>
            </a:r>
            <a:r>
              <a:rPr lang="en-us" sz="1500" b="1" cap="none">
                <a:solidFill>
                  <a:srgbClr val="283441"/>
                </a:solidFill>
              </a:rPr>
              <a:t>domina o </a:t>
            </a:r>
            <a:r>
              <a:rPr lang="en-us" sz="1500" b="1" cap="none">
                <a:solidFill>
                  <a:srgbClr val="283441"/>
                </a:solidFill>
              </a:rPr>
              <a:t>agrupamento.Tratamos </a:t>
            </a:r>
            <a:r>
              <a:rPr lang="en-us" sz="1500" b="1" cap="none">
                <a:solidFill>
                  <a:srgbClr val="283441"/>
                </a:solidFill>
              </a:rPr>
              <a:t>isso </a:t>
            </a:r>
            <a:r>
              <a:rPr lang="en-us" sz="1500" b="1" cap="none">
                <a:solidFill>
                  <a:srgbClr val="283441"/>
                </a:solidFill>
              </a:rPr>
              <a:t>como </a:t>
            </a:r>
            <a:r>
              <a:rPr lang="en-us" sz="1500" b="1" cap="none">
                <a:solidFill>
                  <a:srgbClr val="283441"/>
                </a:solidFill>
              </a:rPr>
              <a:t>hipótese </a:t>
            </a:r>
            <a:r>
              <a:rPr lang="en-us" sz="1500" b="1" cap="none">
                <a:solidFill>
                  <a:srgbClr val="283441"/>
                </a:solidFill>
              </a:rPr>
              <a:t>exploratória, </a:t>
            </a:r>
            <a:r>
              <a:rPr lang="en-us" sz="1500" b="1" cap="none">
                <a:solidFill>
                  <a:srgbClr val="283441"/>
                </a:solidFill>
              </a:rPr>
              <a:t>não </a:t>
            </a:r>
            <a:r>
              <a:rPr lang="en-us" sz="1500" b="1" cap="none">
                <a:solidFill>
                  <a:srgbClr val="283441"/>
                </a:solidFill>
              </a:rPr>
              <a:t>como </a:t>
            </a:r>
            <a:r>
              <a:rPr lang="en-us" sz="1500" b="1" cap="none">
                <a:solidFill>
                  <a:srgbClr val="283441"/>
                </a:solidFill>
              </a:rPr>
              <a:t>prova de </a:t>
            </a:r>
            <a:r>
              <a:rPr lang="en-us" sz="1500" b="1" cap="none">
                <a:solidFill>
                  <a:srgbClr val="283441"/>
                </a:solidFill>
              </a:rPr>
              <a:t>grupos </a:t>
            </a:r>
            <a:r>
              <a:rPr lang="en-us" sz="1500" b="1" cap="none">
                <a:solidFill>
                  <a:srgbClr val="283441"/>
                </a:solidFill>
              </a:rPr>
              <a:t>naturais.</a:t>
            </a:r>
            <a:endParaRPr lang="en-us" sz="1500" b="1" cap="none">
              <a:solidFill>
                <a:srgbClr val="28344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QI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CABAACgRwAA0AIAABAAAAAmAAAACAAAAP//////////MAAAABQAAAAAAAAAAAD//wAAAQAAAP//AAABAA=="/>
              </a:ext>
            </a:extLst>
          </p:cNvSpPr>
          <p:nvPr/>
        </p:nvSpPr>
        <p:spPr>
          <a:xfrm>
            <a:off x="548640" y="182880"/>
            <a:ext cx="1109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b="1" cap="none" spc="40">
                <a:solidFill>
                  <a:srgbClr val="E0A038"/>
                </a:solidFill>
              </a:rPr>
              <a:t>SUPERVISIONADO</a:t>
            </a:r>
            <a:endParaRPr lang="en-us" sz="12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DpVD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F0CAACgRwAA3QYAABAAAAAmAAAACAAAAP//////////MAAAABQAAAAAAAAAAAD//wAAAQAAAP//AAABAA=="/>
              </a:ext>
            </a:extLst>
          </p:cNvSpPr>
          <p:nvPr/>
        </p:nvSpPr>
        <p:spPr>
          <a:xfrm>
            <a:off x="548640" y="384175"/>
            <a:ext cx="1109472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Modelo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preditivo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6_kRU2ahMAAAAlAAAAZQAAAA0AAAAAkAAAAEgAAACQAAAASAAAAAAAAAAAAAAAAAAAAAEAAABQAAAA4q/JGvUQ0T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BAAAAAAAAANjg6AAU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Njg6AB/f38AucTQAMvLywDAwP8Af39/AAAAAAAAAAAAAAAAAAAAAAAAAAAAIQAAABgAAAAUAAAAYAMAACAKAADADwAAgA0AABAAAAAmAAAACAAAAP//////////MAAAABQAAAAAAAAAAAD//wAAAQAAAP//AAABAA=="/>
              </a:ext>
            </a:extLst>
          </p:cNvSpPr>
          <p:nvPr/>
        </p:nvSpPr>
        <p:spPr>
          <a:xfrm>
            <a:off x="548640" y="164592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EFF3F8"/>
          </a:solidFill>
          <a:ln w="12700" cap="flat" cmpd="sng" algn="ctr">
            <a:solidFill>
              <a:srgbClr val="D8E0E8"/>
            </a:solidFill>
            <a:prstDash val="solid"/>
            <a:headEnd type="none"/>
            <a:tailEnd type="none"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UJ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CAKAADADwAAgA0AABAAAAAmAAAACAAAAP//////////MAAAABQAAAAAAAAAAAD//wAAAQAAAP//AAABAA=="/>
              </a:ext>
            </a:extLst>
          </p:cNvSpPr>
          <p:nvPr/>
        </p:nvSpPr>
        <p:spPr>
          <a:xfrm>
            <a:off x="548640" y="1645920"/>
            <a:ext cx="201168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13314F"/>
                </a:solidFill>
                <a:latin typeface="Consolas" pitchFamily="0" charset="0"/>
                <a:ea typeface="Consolas" pitchFamily="0" charset="0"/>
                <a:cs typeface="Consolas" pitchFamily="0" charset="0"/>
              </a:rPr>
              <a:t>latitude</a:t>
            </a:r>
            <a:endParaRPr lang="en-us" sz="1300" cap="none"/>
          </a:p>
        </p:txBody>
      </p:sp>
      <p:sp>
        <p:nvSpPr>
          <p:cNvPr id="6" name="Shape 4"/>
          <p:cNvSpPr>
            <a:extLst>
              <a:ext uri="smNativeData">
                <pr:smNativeData xmlns:pr="smNativeData" xmlns="smNativeData" val="SMDATA_16_kRU2ahMAAAAlAAAAZQAAAA0AAAAAkAAAAEgAAACQAAAASAAAAAAAAAAAAAAAAAAAAAEAAABQAAAA4q/JGvUQ0T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BAAAAAAAAANjg6AAU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AA5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Njg6AB/f38AucTQAMvLywDAwP8Af39/AAAAAAAAAAAAAAAAAAAAAAAAAAAAIQAAABgAAAAUAAAAYAMAAIMOAADADwAA4xEAABAAAAAmAAAACAAAAP//////////MAAAABQAAAAAAAAAAAD//wAAAQAAAP//AAABAA=="/>
              </a:ext>
            </a:extLst>
          </p:cNvSpPr>
          <p:nvPr/>
        </p:nvSpPr>
        <p:spPr>
          <a:xfrm>
            <a:off x="548640" y="2359025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EFF3F8"/>
          </a:solidFill>
          <a:ln w="12700" cap="flat" cmpd="sng" algn="ctr">
            <a:solidFill>
              <a:srgbClr val="D8E0E8"/>
            </a:solidFill>
            <a:prstDash val="solid"/>
            <a:headEnd type="none"/>
            <a:tailEnd type="none"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7" name="Text 5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IMOAADADwAA4xEAABAAAAAmAAAACAAAAP//////////MAAAABQAAAAAAAAAAAD//wAAAQAAAP//AAABAA=="/>
              </a:ext>
            </a:extLst>
          </p:cNvSpPr>
          <p:nvPr/>
        </p:nvSpPr>
        <p:spPr>
          <a:xfrm>
            <a:off x="548640" y="2359025"/>
            <a:ext cx="201168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13314F"/>
                </a:solidFill>
                <a:latin typeface="Consolas" pitchFamily="0" charset="0"/>
                <a:ea typeface="Consolas" pitchFamily="0" charset="0"/>
                <a:cs typeface="Consolas" pitchFamily="0" charset="0"/>
              </a:rPr>
              <a:t>longitude</a:t>
            </a:r>
            <a:endParaRPr lang="en-us" sz="1300" cap="none"/>
          </a:p>
        </p:txBody>
      </p:sp>
      <p:sp>
        <p:nvSpPr>
          <p:cNvPr id="8" name="Shape 6"/>
          <p:cNvSpPr>
            <a:extLst>
              <a:ext uri="smNativeData">
                <pr:smNativeData xmlns:pr="smNativeData" xmlns="smNativeData" val="SMDATA_16_kRU2ahMAAAAlAAAAZQAAAA0AAAAAkAAAAEgAAACQAAAASAAAAAAAAAAAAAAAAAAAAAEAAABQAAAA4q/JGvUQ0T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BAAAAAAAAANjg6AAU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EYC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Njg6AB/f38AucTQAMvLywDAwP8Af39/AAAAAAAAAAAAAAAAAAAAAAAAAAAAIQAAABgAAAAUAAAAYAMAAOYSAADADwAARhYAABAAAAAmAAAACAAAAP//////////MAAAABQAAAAAAAAAAAD//wAAAQAAAP//AAABAA=="/>
              </a:ext>
            </a:extLst>
          </p:cNvSpPr>
          <p:nvPr/>
        </p:nvSpPr>
        <p:spPr>
          <a:xfrm>
            <a:off x="548640" y="307213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EFF3F8"/>
          </a:solidFill>
          <a:ln w="12700" cap="flat" cmpd="sng" algn="ctr">
            <a:solidFill>
              <a:srgbClr val="D8E0E8"/>
            </a:solidFill>
            <a:prstDash val="solid"/>
            <a:headEnd type="none"/>
            <a:tailEnd type="none"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9" name="Text 7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OYSAADADwAARhYAABAAAAAmAAAACAAAAP//////////MAAAABQAAAAAAAAAAAD//wAAAQAAAP//AAABAA=="/>
              </a:ext>
            </a:extLst>
          </p:cNvSpPr>
          <p:nvPr/>
        </p:nvSpPr>
        <p:spPr>
          <a:xfrm>
            <a:off x="548640" y="3072130"/>
            <a:ext cx="201168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13314F"/>
                </a:solidFill>
                <a:latin typeface="Consolas" pitchFamily="0" charset="0"/>
                <a:ea typeface="Consolas" pitchFamily="0" charset="0"/>
                <a:cs typeface="Consolas" pitchFamily="0" charset="0"/>
              </a:rPr>
              <a:t>hora</a:t>
            </a:r>
            <a:endParaRPr lang="en-us" sz="1300" cap="none"/>
          </a:p>
        </p:txBody>
      </p:sp>
      <p:sp>
        <p:nvSpPr>
          <p:cNvPr id="10" name="Shape 8"/>
          <p:cNvSpPr>
            <a:extLst>
              <a:ext uri="smNativeData">
                <pr:smNativeData xmlns:pr="smNativeData" xmlns="smNativeData" val="SMDATA_16_kRU2ah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OCgOAAyAAAAAQAAACMAAAAjAAAAIwAAAB4AAAAAAAAAZAAAAGQAAAAC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OCgOAB/f38A5+bmA8zMzADAwP8Af39/AAAAAAAAAAAAAAAAAAAAAAAAAAAAIQAAABgAAAAUAAAAUBAAABAOAADwFQAAEA4AABAAAAAmAAAACAAAAP//////////MAAAABQAAAAAAAAAAAD//wAAAQAAAP//AAABAA=="/>
              </a:ext>
            </a:extLst>
          </p:cNvSpPr>
          <p:nvPr/>
        </p:nvSpPr>
        <p:spPr>
          <a:xfrm>
            <a:off x="2651760" y="2286000"/>
            <a:ext cx="914400" cy="0"/>
          </a:xfrm>
          <a:prstGeom prst="line">
            <a:avLst/>
          </a:prstGeom>
          <a:noFill/>
          <a:ln w="31750" cap="flat" cmpd="sng" algn="ctr">
            <a:solidFill>
              <a:srgbClr val="E0A038"/>
            </a:solidFill>
            <a:prstDash val="solid"/>
            <a:headEnd type="none"/>
            <a:tailEnd type="triangle" w="med" len="med"/>
          </a:ln>
          <a:effectLst/>
        </p:spPr>
      </p:sp>
      <p:sp>
        <p:nvSpPr>
          <p:cNvPr id="11" name="Shape 9"/>
          <p:cNvSpPr>
            <a:extLst>
              <a:ext uri="smNativeData">
                <pr:smNativeData xmlns:pr="smNativeData" xmlns="smNativeData" val="SMDATA_16_kRU2ahMAAAAlAAAAZQAAAA0AAAAAkAAAAEgAAACQAAAASAAAAAAAAAAAAAAAAAAAAAEAAABQAAAAexSuR+F6xD8AAAAAAADwvwAAAAAAAOA/AAAAAAAA4D8AAAAAAADgPwAAAAAAAOA/AAAAAAAA4D8AAAAAAADgPwAAAAAAAOA/AAAAAAAA4D8CAAAAjAAAAAEAAAAAAAAADyR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DyRAAP///wEAAAAAAAAAAAAAAAAAAAAAAAAAAAAAAAAAAAAAAAAAAAAAAAB/f38AucTQAMvLywDAwP8Af39/AAAAAAAAAAAAAAAAAAAAAAAAAAAAIQAAABgAAAAUAAAAgBYAAEALAACQJAAA4BAAABAAAAAmAAAACAAAAP//////////MAAAABQAAAAAAAAAAAD//wAAAQAAAP//AAABAA=="/>
              </a:ext>
            </a:extLst>
          </p:cNvSpPr>
          <p:nvPr/>
        </p:nvSpPr>
        <p:spPr>
          <a:xfrm>
            <a:off x="365760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F2440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12" name="Text 10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BYAAEALAACQJAAA4BAAABAAAAAmAAAACAAAAP//////////MAAAABQAAAAAAAAAAAD//wAAAQAAAP//AAABAA=="/>
              </a:ext>
            </a:extLst>
          </p:cNvSpPr>
          <p:nvPr/>
        </p:nvSpPr>
        <p:spPr>
          <a:xfrm>
            <a:off x="3657600" y="1828800"/>
            <a:ext cx="22860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500" b="1" cap="none">
                <a:solidFill>
                  <a:srgbClr val="FFFFF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RandomForest</a:t>
            </a:r>
            <a:endParaRPr lang="en-us" sz="1500" cap="none"/>
          </a:p>
        </p:txBody>
      </p:sp>
      <p:sp>
        <p:nvSpPr>
          <p:cNvPr id="13" name="Shape 11"/>
          <p:cNvSpPr>
            <a:extLst>
              <a:ext uri="smNativeData">
                <pr:smNativeData xmlns:pr="smNativeData" xmlns="smNativeData" val="SMDATA_16_kRU2ah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OCgOAAyAAAAAQAAACMAAAAjAAAAIwAAAB4AAAAAAAAAZAAAAGQAAAAC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OCgOAB/f38A5+bmA8zMzADAwP8Af39/AAAAAAAAAAAAAAAAAAAAAAAAAAAAIQAAABgAAAAUAAAAICUAABAOAADAKgAAEA4AABAAAAAmAAAACAAAAP//////////MAAAABQAAAAAAAAAAAD//wAAAQAAAP//AAABAA=="/>
              </a:ext>
            </a:extLst>
          </p:cNvSpPr>
          <p:nvPr/>
        </p:nvSpPr>
        <p:spPr>
          <a:xfrm>
            <a:off x="6035040" y="2286000"/>
            <a:ext cx="914400" cy="0"/>
          </a:xfrm>
          <a:prstGeom prst="line">
            <a:avLst/>
          </a:prstGeom>
          <a:noFill/>
          <a:ln w="31750" cap="flat" cmpd="sng" algn="ctr">
            <a:solidFill>
              <a:srgbClr val="E0A038"/>
            </a:solidFill>
            <a:prstDash val="solid"/>
            <a:headEnd type="none"/>
            <a:tailEnd type="triangle" w="med" len="med"/>
          </a:ln>
          <a:effectLst/>
        </p:spPr>
      </p:sp>
      <p:sp>
        <p:nvSpPr>
          <p:cNvPr id="14" name="Shape 12"/>
          <p:cNvSpPr>
            <a:extLst>
              <a:ext uri="smNativeData">
                <pr:smNativeData xmlns:pr="smNativeData" xmlns="smNativeData" val="SMDATA_16_kRU2ahMAAAAlAAAAZQAAAA0AAAAAkAAAAEgAAACQAAAASAAAAAAAAAAAAAAAAAAAAAEAAABQAAAAexSuR+F6xD8AAAAAAADwvwAAAAAAAOA/AAAAAAAA4D8AAAAAAADgPwAAAAAAAOA/AAAAAAAA4D8AAAAAAADgPwAAAAAAAOA/AAAAAAAA4D8CAAAAjAAAAAEAAAAAAAAA9uK8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9uK8AP///wEAAAAAAAAAAAAAAAAAAAAAAAAAAAAAAAAAAAAAAAAAAAAAAAB/f38AucTQAMvLywDAwP8Af39/AAAAAAAAAAAAAAAAAAAAAAAAAAAAIQAAABgAAAAUAAAAUCsAAEALAADAPAAA4BAAABAAAAAmAAAACAAAAP//////////MAAAABQAAAAAAAAAAAD//wAAAQAAAP//AAABAA=="/>
              </a:ext>
            </a:extLst>
          </p:cNvSpPr>
          <p:nvPr/>
        </p:nvSpPr>
        <p:spPr>
          <a:xfrm>
            <a:off x="7040880" y="182880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6E2BC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15" name="Text 13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CsAAEALAADAPAAA4BAAABAAAAAmAAAACAAAAP//////////MAAAABQAAAAAAAAAAAD//wAAAQAAAP//AAABAA=="/>
              </a:ext>
            </a:extLst>
          </p:cNvSpPr>
          <p:nvPr/>
        </p:nvSpPr>
        <p:spPr>
          <a:xfrm>
            <a:off x="7040880" y="1828800"/>
            <a:ext cx="283464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300" b="1" cap="none">
                <a:solidFill>
                  <a:srgbClr val="13314F"/>
                </a:solidFill>
              </a:rPr>
              <a:t>ranking de </a:t>
            </a:r>
            <a:r>
              <a:rPr lang="en-us" sz="1300" b="1" cap="none">
                <a:solidFill>
                  <a:srgbClr val="13314F"/>
                </a:solidFill>
              </a:rPr>
              <a:t>tipos </a:t>
            </a:r>
            <a:r>
              <a:rPr lang="en-us" sz="1300" b="1" cap="none">
                <a:solidFill>
                  <a:srgbClr val="13314F"/>
                </a:solidFill>
              </a:rPr>
              <a:t>prováveis</a:t>
            </a:r>
            <a:endParaRPr lang="en-us" sz="1300" cap="none"/>
          </a:p>
        </p:txBody>
      </p:sp>
      <p:sp>
        <p:nvSpPr>
          <p:cNvPr id="16" name="Text 14"/>
          <p:cNvSpPr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KAXAADgRgAAsCUAABAAAAAmAAAACAAAAP//////////MAAAABQAAAAAAAAAAAD//wAAAQAAAP//AAABAA=="/>
              </a:ext>
            </a:extLst>
          </p:cNvSpPr>
          <p:nvPr/>
        </p:nvSpPr>
        <p:spPr>
          <a:xfrm>
            <a:off x="548640" y="3840480"/>
            <a:ext cx="10972800" cy="228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177800" indent="-177800" algn="l">
              <a:spcAft>
                <a:spcPts val="800"/>
              </a:spcAft>
              <a:buSzTx/>
              <a:buChar char="•"/>
            </a:pPr>
            <a:r>
              <a:rPr lang="en-us" sz="1550" cap="none">
                <a:solidFill>
                  <a:srgbClr val="283441"/>
                </a:solidFill>
              </a:rPr>
              <a:t>Saída: </a:t>
            </a:r>
            <a:r>
              <a:rPr lang="en-us" sz="1550" cap="none">
                <a:solidFill>
                  <a:srgbClr val="283441"/>
                </a:solidFill>
              </a:rPr>
              <a:t>probabilidade de </a:t>
            </a:r>
            <a:r>
              <a:rPr lang="en-us" sz="1550" cap="none">
                <a:solidFill>
                  <a:srgbClr val="283441"/>
                </a:solidFill>
              </a:rPr>
              <a:t>cada </a:t>
            </a:r>
            <a:r>
              <a:rPr lang="en-us" sz="1550" cap="none">
                <a:solidFill>
                  <a:srgbClr val="283441"/>
                </a:solidFill>
              </a:rPr>
              <a:t>tipo de crime (20 classes).</a:t>
            </a:r>
            <a:r>
              <a:rPr lang="en-us" sz="1550" cap="none">
                <a:solidFill>
                  <a:srgbClr val="283441"/>
                </a:solidFill>
              </a:rPr>
              <a:t>Comparados Dummy (base-rate), </a:t>
            </a:r>
            <a:r>
              <a:rPr lang="en-us" sz="1550" cap="none">
                <a:solidFill>
                  <a:srgbClr val="283441"/>
                </a:solidFill>
              </a:rPr>
              <a:t>Regressão </a:t>
            </a:r>
            <a:r>
              <a:rPr lang="en-us" sz="1550" cap="none">
                <a:solidFill>
                  <a:srgbClr val="283441"/>
                </a:solidFill>
              </a:rPr>
              <a:t>Logística, </a:t>
            </a:r>
            <a:r>
              <a:rPr lang="en-us" sz="1550" cap="none">
                <a:solidFill>
                  <a:srgbClr val="283441"/>
                </a:solidFill>
              </a:rPr>
              <a:t>RandomForest e </a:t>
            </a:r>
            <a:r>
              <a:rPr lang="en-us" sz="1550" cap="none">
                <a:solidFill>
                  <a:srgbClr val="283441"/>
                </a:solidFill>
              </a:rPr>
              <a:t>HistGradientBoosting.Split </a:t>
            </a:r>
            <a:r>
              <a:rPr lang="en-us" sz="1550" cap="none">
                <a:solidFill>
                  <a:srgbClr val="283441"/>
                </a:solidFill>
              </a:rPr>
              <a:t>estratificado, </a:t>
            </a:r>
            <a:r>
              <a:rPr lang="en-us" sz="1550" cap="none">
                <a:solidFill>
                  <a:srgbClr val="283441"/>
                </a:solidFill>
              </a:rPr>
              <a:t>semente </a:t>
            </a:r>
            <a:r>
              <a:rPr lang="en-us" sz="1550" cap="none">
                <a:solidFill>
                  <a:srgbClr val="283441"/>
                </a:solidFill>
              </a:rPr>
              <a:t>fixa (≈930 </a:t>
            </a:r>
            <a:r>
              <a:rPr lang="en-us" sz="1550" cap="none">
                <a:solidFill>
                  <a:srgbClr val="283441"/>
                </a:solidFill>
              </a:rPr>
              <a:t>mil </a:t>
            </a:r>
            <a:r>
              <a:rPr lang="en-us" sz="1550" cap="none">
                <a:solidFill>
                  <a:srgbClr val="283441"/>
                </a:solidFill>
              </a:rPr>
              <a:t>treino / 310 </a:t>
            </a:r>
            <a:r>
              <a:rPr lang="en-us" sz="1550" cap="none">
                <a:solidFill>
                  <a:srgbClr val="283441"/>
                </a:solidFill>
              </a:rPr>
              <a:t>mil teste).</a:t>
            </a:r>
            <a:r>
              <a:rPr lang="en-us" sz="1550" b="1" cap="none">
                <a:solidFill>
                  <a:srgbClr val="283441"/>
                </a:solidFill>
              </a:rPr>
              <a:t>Modelo </a:t>
            </a:r>
            <a:r>
              <a:rPr lang="en-us" sz="1550" b="1" cap="none">
                <a:solidFill>
                  <a:srgbClr val="283441"/>
                </a:solidFill>
              </a:rPr>
              <a:t>escolhido </a:t>
            </a:r>
            <a:r>
              <a:rPr lang="en-us" sz="1550" b="1" cap="none">
                <a:solidFill>
                  <a:srgbClr val="283441"/>
                </a:solidFill>
              </a:rPr>
              <a:t>pelo </a:t>
            </a:r>
            <a:r>
              <a:rPr lang="en-us" sz="1550" b="1" cap="none">
                <a:solidFill>
                  <a:srgbClr val="283441"/>
                </a:solidFill>
              </a:rPr>
              <a:t>acerto </a:t>
            </a:r>
            <a:r>
              <a:rPr lang="en-us" sz="1550" b="1" cap="none">
                <a:solidFill>
                  <a:srgbClr val="283441"/>
                </a:solidFill>
              </a:rPr>
              <a:t>da </a:t>
            </a:r>
            <a:r>
              <a:rPr lang="en-us" sz="1550" b="1" cap="none">
                <a:solidFill>
                  <a:srgbClr val="283441"/>
                </a:solidFill>
              </a:rPr>
              <a:t>1ª </a:t>
            </a:r>
            <a:r>
              <a:rPr lang="en-us" sz="1550" b="1" cap="none">
                <a:solidFill>
                  <a:srgbClr val="283441"/>
                </a:solidFill>
              </a:rPr>
              <a:t>opção (top-1), </a:t>
            </a:r>
            <a:r>
              <a:rPr lang="en-us" sz="1550" b="1" cap="none">
                <a:solidFill>
                  <a:srgbClr val="283441"/>
                </a:solidFill>
              </a:rPr>
              <a:t>não </a:t>
            </a:r>
            <a:r>
              <a:rPr lang="en-us" sz="1550" b="1" cap="none">
                <a:solidFill>
                  <a:srgbClr val="283441"/>
                </a:solidFill>
              </a:rPr>
              <a:t>pelo top-3.</a:t>
            </a:r>
            <a:endParaRPr lang="en-us" sz="1550" cap="none">
              <a:solidFill>
                <a:srgbClr val="28344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CABAACgRwAA0AIAABAAAAAmAAAACAAAAP//////////MAAAABQAAAAAAAAAAAD//wAAAQAAAP//AAABAA=="/>
              </a:ext>
            </a:extLst>
          </p:cNvSpPr>
          <p:nvPr/>
        </p:nvSpPr>
        <p:spPr>
          <a:xfrm>
            <a:off x="548640" y="182880"/>
            <a:ext cx="1109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b="1" cap="none" spc="40">
                <a:solidFill>
                  <a:srgbClr val="E0A038"/>
                </a:solidFill>
              </a:rPr>
              <a:t>APLICAÇÃO</a:t>
            </a:r>
            <a:endParaRPr lang="en-us" sz="12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F0CAACgRwAA3QYAABAAAAAmAAAACAAAAP//////////MAAAABQAAAAAAAAAAAD//wAAAQAAAP//AAABAA=="/>
              </a:ext>
            </a:extLst>
          </p:cNvSpPr>
          <p:nvPr/>
        </p:nvSpPr>
        <p:spPr>
          <a:xfrm>
            <a:off x="548640" y="384175"/>
            <a:ext cx="1109472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Exemplo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da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URA do 190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6_kRU2ahMAAAAlAAAAZQAAAA0AAAAAkAAAAEgAAACQAAAASAAAAAAAAAAAAAAAAAAAAAEAAABQAAAA6N7DJcedoj8AAAAAAADwvwAAAAAAAOA/AAAAAAAA4D8AAAAAAADgPwAAAAAAAOA/AAAAAAAA4D8AAAAAAADgPwAAAAAAAOA/AAAAAAAA4D8CAAAAjAAAAAEAAAAAAAAADyR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DyRAAP///wEAAAAAAAAAAAAAAAAAAAAAAAAAAAAAAAAAAAAAAAAAAAAAAAB/f38AucTQAMvLywDAwP8Af39/AAAAAAAAAAAAAAAAAAAAAAAAAAAAIQAAABgAAAAUAAAAYAMAAJAJAABAHQAAUCIAABAAAAAmAAAACAAAAP//////////MAAAABQAAAAAAAAAAAD//wAAAQAAAP//AAABAA=="/>
              </a:ext>
            </a:extLst>
          </p:cNvSpPr>
          <p:nvPr/>
        </p:nvSpPr>
        <p:spPr>
          <a:xfrm>
            <a:off x="548640" y="1554480"/>
            <a:ext cx="4206240" cy="4023360"/>
          </a:xfrm>
          <a:prstGeom prst="roundRect">
            <a:avLst>
              <a:gd name="adj" fmla="val 1818"/>
            </a:avLst>
          </a:prstGeom>
          <a:solidFill>
            <a:srgbClr val="0F2440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AwB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PgKAABAHQAAyA0AABAAAAAmAAAACAAAAP//////////MAAAABQAAAAAAAAAAAD//wAAAQAAAP//AAABAA=="/>
              </a:ext>
            </a:extLst>
          </p:cNvSpPr>
          <p:nvPr/>
        </p:nvSpPr>
        <p:spPr>
          <a:xfrm>
            <a:off x="548640" y="1783080"/>
            <a:ext cx="42062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700" b="1" cap="none">
                <a:solidFill>
                  <a:srgbClr val="FFFFF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Polícia </a:t>
            </a:r>
            <a:r>
              <a:rPr lang="en-us" sz="1700" b="1" cap="none">
                <a:solidFill>
                  <a:srgbClr val="FFFFF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Militar · 190</a:t>
            </a:r>
            <a:endParaRPr lang="en-us" sz="1700" cap="none"/>
          </a:p>
        </p:txBody>
      </p:sp>
      <p:sp>
        <p:nvSpPr>
          <p:cNvPr id="6" name="Text 4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AwB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UAAFgOAADYGwAAmBAAABAAAAAmAAAACAAAAP//////////MAAAABQAAAAAAAAAAAD//wAAAQAAAP//AAABAA=="/>
              </a:ext>
            </a:extLst>
          </p:cNvSpPr>
          <p:nvPr/>
        </p:nvSpPr>
        <p:spPr>
          <a:xfrm>
            <a:off x="868680" y="2331720"/>
            <a:ext cx="3657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C7D4E2"/>
                </a:solidFill>
              </a:rPr>
              <a:t>Selecione o </a:t>
            </a:r>
            <a:r>
              <a:rPr lang="en-us" sz="1300" cap="none">
                <a:solidFill>
                  <a:srgbClr val="C7D4E2"/>
                </a:solidFill>
              </a:rPr>
              <a:t>tipo de </a:t>
            </a:r>
            <a:r>
              <a:rPr lang="en-us" sz="1300" cap="none">
                <a:solidFill>
                  <a:srgbClr val="C7D4E2"/>
                </a:solidFill>
              </a:rPr>
              <a:t>ocorrência:</a:t>
            </a:r>
            <a:endParaRPr lang="en-us" sz="1300" cap="none"/>
          </a:p>
        </p:txBody>
      </p:sp>
      <p:sp>
        <p:nvSpPr>
          <p:cNvPr id="7" name="Shape 5"/>
          <p:cNvSpPr>
            <a:extLst>
              <a:ext uri="smNativeData">
                <pr:smNativeData xmlns:pr="smNativeData" xmlns="smNativeData" val="SMDATA_16_kRU2ahMAAAAlAAAAZQAAAA0AAAAAkAAAAEgAAACQAAAASAAAAAAAAAAAAAAAAAAAAAEAAABQAAAA+fcZFw6E0D8AAAAAAADwvwAAAAAAAOA/AAAAAAAA4D8AAAAAAADgPwAAAAAAAOA/AAAAAAAA4D8AAAAAAADgPwAAAAAAAOA/AAAAAAAA4D8CAAAAjAAAAAEAAAAAAAAAHDpe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HDpeAP///wEAAAAAAAAAAAAAAAAAAAAAAAAAAAAAAAAAAAAAAAAAAAAAAAB/f38AucTQAMvLywDAwP8Af39/AAAAAAAAAAAAAAAAAAAAAAAAAAAAIQAAABgAAAAUAAAAWAUAACgRAABIGwAApRQAABAAAAAmAAAACAAAAP//////////MAAAABQAAAAAAAAAAAD//wAAAQAAAP//AAABAA=="/>
              </a:ext>
            </a:extLst>
          </p:cNvSpPr>
          <p:nvPr/>
        </p:nvSpPr>
        <p:spPr>
          <a:xfrm>
            <a:off x="868680" y="2788920"/>
            <a:ext cx="3566160" cy="567055"/>
          </a:xfrm>
          <a:prstGeom prst="roundRect">
            <a:avLst>
              <a:gd name="adj" fmla="val 12903"/>
            </a:avLst>
          </a:prstGeom>
          <a:solidFill>
            <a:srgbClr val="1C3A5E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8" name="Text 6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CgRAAAAGwAApRQAABAAAAAmAAAACAAAAP//////////MAAAABQAAAAAAAAAAAD//wAAAQAAAP//AAABAA=="/>
              </a:ext>
            </a:extLst>
          </p:cNvSpPr>
          <p:nvPr/>
        </p:nvSpPr>
        <p:spPr>
          <a:xfrm>
            <a:off x="1097280" y="2788920"/>
            <a:ext cx="32918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FFFFFF"/>
                </a:solidFill>
              </a:rPr>
              <a:t>1.  </a:t>
            </a:r>
            <a:r>
              <a:rPr lang="en-us" sz="1500" b="1" cap="none">
                <a:solidFill>
                  <a:srgbClr val="FFFFFF"/>
                </a:solidFill>
              </a:rPr>
              <a:t>Roubo</a:t>
            </a:r>
            <a:endParaRPr lang="en-us" sz="1500" cap="none"/>
          </a:p>
        </p:txBody>
      </p:sp>
      <p:sp>
        <p:nvSpPr>
          <p:cNvPr id="9" name="Shape 7"/>
          <p:cNvSpPr>
            <a:extLst>
              <a:ext uri="smNativeData">
                <pr:smNativeData xmlns:pr="smNativeData" xmlns="smNativeData" val="SMDATA_16_kRU2ahMAAAAlAAAAZQAAAA0AAAAAkAAAAEgAAACQAAAASAAAAAAAAAAAAAAAAAAAAAEAAABQAAAA+fcZFw6E0D8AAAAAAADwvwAAAAAAAOA/AAAAAAAA4D8AAAAAAADgPwAAAAAAAOA/AAAAAAAA4D8AAAAAAADgPwAAAAAAAOA/AAAAAAAA4D8CAAAAjAAAAAEAAAAAAAAAHDpe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PMo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HDpeAP///wEAAAAAAAAAAAAAAAAAAAAAAAAAAAAAAAAAAAAAAAAAAAAAAAB/f38AucTQAMvLywDAwP8Af39/AAAAAAAAAAAAAAAAAAAAAAAAAAAAIQAAABgAAAAUAAAAWAUAAIsVAABIGwAACBkAABAAAAAmAAAACAAAAP//////////MAAAABQAAAAAAAAAAAD//wAAAQAAAP//AAABAA=="/>
              </a:ext>
            </a:extLst>
          </p:cNvSpPr>
          <p:nvPr/>
        </p:nvSpPr>
        <p:spPr>
          <a:xfrm>
            <a:off x="868680" y="3502025"/>
            <a:ext cx="3566160" cy="567055"/>
          </a:xfrm>
          <a:prstGeom prst="roundRect">
            <a:avLst>
              <a:gd name="adj" fmla="val 12903"/>
            </a:avLst>
          </a:prstGeom>
          <a:solidFill>
            <a:srgbClr val="1C3A5E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10" name="Text 8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k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IsVAAAAGwAACBkAABAAAAAmAAAACAAAAP//////////MAAAABQAAAAAAAAAAAD//wAAAQAAAP//AAABAA=="/>
              </a:ext>
            </a:extLst>
          </p:cNvSpPr>
          <p:nvPr/>
        </p:nvSpPr>
        <p:spPr>
          <a:xfrm>
            <a:off x="1097280" y="3502025"/>
            <a:ext cx="32918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FFFFFF"/>
                </a:solidFill>
              </a:rPr>
              <a:t>2.  </a:t>
            </a:r>
            <a:r>
              <a:rPr lang="en-us" sz="1500" b="1" cap="none">
                <a:solidFill>
                  <a:srgbClr val="FFFFFF"/>
                </a:solidFill>
              </a:rPr>
              <a:t>Furto</a:t>
            </a:r>
            <a:endParaRPr lang="en-us" sz="1500" cap="none"/>
          </a:p>
        </p:txBody>
      </p:sp>
      <p:sp>
        <p:nvSpPr>
          <p:cNvPr id="11" name="Shape 9"/>
          <p:cNvSpPr>
            <a:extLst>
              <a:ext uri="smNativeData">
                <pr:smNativeData xmlns:pr="smNativeData" xmlns="smNativeData" val="SMDATA_16_kRU2ahMAAAAlAAAAZQAAAA0AAAAAkAAAAEgAAACQAAAASAAAAAAAAAAAAAAAAAAAAAEAAABQAAAA+fcZFw6E0D8AAAAAAADwvwAAAAAAAOA/AAAAAAAA4D8AAAAAAADgPwAAAAAAAOA/AAAAAAAA4D8AAAAAAADgPwAAAAAAAOA/AAAAAAAA4D8CAAAAjAAAAAEAAAAAAAAA4KA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P/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4KA4AP///wEAAAAAAAAAAAAAAAAAAAAAAAAAAAAAAAAAAAAAAAAAAAAAAAB/f38AucTQAMvLywDAwP8Af39/AAAAAAAAAAAAAAAAAAAAAAAAAAAAIQAAABgAAAAUAAAAWAUAAO4ZAABIGwAAax0AABAAAAAmAAAACAAAAP//////////MAAAABQAAAAAAAAAAAD//wAAAQAAAP//AAABAA=="/>
              </a:ext>
            </a:extLst>
          </p:cNvSpPr>
          <p:nvPr/>
        </p:nvSpPr>
        <p:spPr>
          <a:xfrm>
            <a:off x="868680" y="4215130"/>
            <a:ext cx="3566160" cy="567055"/>
          </a:xfrm>
          <a:prstGeom prst="roundRect">
            <a:avLst>
              <a:gd name="adj" fmla="val 12903"/>
            </a:avLst>
          </a:prstGeom>
          <a:solidFill>
            <a:srgbClr val="E0A038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12" name="Text 10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O4ZAAAAGwAAax0AABAAAAAmAAAACAAAAP//////////MAAAABQAAAAAAAAAAAD//wAAAQAAAP//AAABAA=="/>
              </a:ext>
            </a:extLst>
          </p:cNvSpPr>
          <p:nvPr/>
        </p:nvSpPr>
        <p:spPr>
          <a:xfrm>
            <a:off x="1097280" y="4215130"/>
            <a:ext cx="32918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0F2440"/>
                </a:solidFill>
              </a:rPr>
              <a:t>3.  </a:t>
            </a:r>
            <a:r>
              <a:rPr lang="en-us" sz="1500" b="1" cap="none">
                <a:solidFill>
                  <a:srgbClr val="0F2440"/>
                </a:solidFill>
              </a:rPr>
              <a:t>Falar </a:t>
            </a:r>
            <a:r>
              <a:rPr lang="en-us" sz="1500" b="1" cap="none">
                <a:solidFill>
                  <a:srgbClr val="0F2440"/>
                </a:solidFill>
              </a:rPr>
              <a:t>com </a:t>
            </a:r>
            <a:r>
              <a:rPr lang="en-us" sz="1500" b="1" cap="none">
                <a:solidFill>
                  <a:srgbClr val="0F2440"/>
                </a:solidFill>
              </a:rPr>
              <a:t>atendente</a:t>
            </a:r>
            <a:endParaRPr lang="en-us" sz="1500" cap="none"/>
          </a:p>
        </p:txBody>
      </p:sp>
      <p:sp>
        <p:nvSpPr>
          <p:cNvPr id="13" name="Text 11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gAQC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OAiAABAHQAAsCUAABAAAAAmAAAACAAAAP//////////MAAAABQAAAAAAAAAAAD//wAAAQAAAP//AAABAA=="/>
              </a:ext>
            </a:extLst>
          </p:cNvSpPr>
          <p:nvPr/>
        </p:nvSpPr>
        <p:spPr>
          <a:xfrm>
            <a:off x="548640" y="5669280"/>
            <a:ext cx="42062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100" i="1" cap="none">
                <a:solidFill>
                  <a:srgbClr val="5B7691"/>
                </a:solidFill>
              </a:rPr>
              <a:t>menu </a:t>
            </a:r>
            <a:r>
              <a:rPr lang="en-us" sz="1100" i="1" cap="none">
                <a:solidFill>
                  <a:srgbClr val="5B7691"/>
                </a:solidFill>
              </a:rPr>
              <a:t>curto: </a:t>
            </a:r>
            <a:r>
              <a:rPr lang="en-us" sz="1100" i="1" cap="none">
                <a:solidFill>
                  <a:srgbClr val="5B7691"/>
                </a:solidFill>
              </a:rPr>
              <a:t>até 2 </a:t>
            </a:r>
            <a:r>
              <a:rPr lang="en-us" sz="1100" i="1" cap="none">
                <a:solidFill>
                  <a:srgbClr val="5B7691"/>
                </a:solidFill>
              </a:rPr>
              <a:t>tipos + </a:t>
            </a:r>
            <a:r>
              <a:rPr lang="en-us" sz="1100" i="1" cap="none">
                <a:solidFill>
                  <a:srgbClr val="5B7691"/>
                </a:solidFill>
              </a:rPr>
              <a:t>falar </a:t>
            </a:r>
            <a:r>
              <a:rPr lang="en-us" sz="1100" i="1" cap="none">
                <a:solidFill>
                  <a:srgbClr val="5B7691"/>
                </a:solidFill>
              </a:rPr>
              <a:t>com </a:t>
            </a:r>
            <a:r>
              <a:rPr lang="en-us" sz="1100" i="1" cap="none">
                <a:solidFill>
                  <a:srgbClr val="5B7691"/>
                </a:solidFill>
              </a:rPr>
              <a:t>atendente (sempre </a:t>
            </a:r>
            <a:r>
              <a:rPr lang="en-us" sz="1100" i="1" cap="none">
                <a:solidFill>
                  <a:srgbClr val="5B7691"/>
                </a:solidFill>
              </a:rPr>
              <a:t>presente)</a:t>
            </a:r>
            <a:endParaRPr lang="en-us" sz="1100" cap="none"/>
          </a:p>
        </p:txBody>
      </p:sp>
      <p:sp>
        <p:nvSpPr>
          <p:cNvPr id="14" name="Text 12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CEAANgJAABwRwAAGAwAABAAAAAmAAAACAAAAP//////////MAAAABQAAAAAAAAAAAD//wAAAQAAAP//AAABAA=="/>
              </a:ext>
            </a:extLst>
          </p:cNvSpPr>
          <p:nvPr/>
        </p:nvSpPr>
        <p:spPr>
          <a:xfrm>
            <a:off x="5486400" y="1600200"/>
            <a:ext cx="612648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13314F"/>
                </a:solidFill>
              </a:rPr>
              <a:t>A </a:t>
            </a:r>
            <a:r>
              <a:rPr lang="en-us" sz="1500" b="1" cap="none">
                <a:solidFill>
                  <a:srgbClr val="13314F"/>
                </a:solidFill>
              </a:rPr>
              <a:t>ordem </a:t>
            </a:r>
            <a:r>
              <a:rPr lang="en-us" sz="1500" b="1" cap="none">
                <a:solidFill>
                  <a:srgbClr val="13314F"/>
                </a:solidFill>
              </a:rPr>
              <a:t>muda </a:t>
            </a:r>
            <a:r>
              <a:rPr lang="en-us" sz="1500" b="1" cap="none">
                <a:solidFill>
                  <a:srgbClr val="13314F"/>
                </a:solidFill>
              </a:rPr>
              <a:t>com local e </a:t>
            </a:r>
            <a:r>
              <a:rPr lang="en-us" sz="1500" b="1" cap="none">
                <a:solidFill>
                  <a:srgbClr val="13314F"/>
                </a:solidFill>
              </a:rPr>
              <a:t>horário:</a:t>
            </a:r>
            <a:endParaRPr lang="en-us" sz="1500" cap="none"/>
          </a:p>
        </p:txBody>
      </p:sp>
      <p:sp>
        <p:nvSpPr>
          <p:cNvPr id="15" name="Shape 13"/>
          <p:cNvSpPr>
            <a:extLst>
              <a:ext uri="smNativeData">
                <pr:smNativeData xmlns:pr="smNativeData" xmlns="smNativeData" val="SMDATA_16_kRU2ahMAAAAlAAAAZQAAAA0AAAAAkAAAAEgAAACQAAAASAAAAAAAAAAAAAAAAAAAAAEAAABQAAAA4UBIFjCBwz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BAAAAAAAAANjg6AAU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Njg6AB/f38AucTQAMvLywDAwP8Af39/AAAAAAAAAAAAAAAAAAAAAAAAAAAAIQAAABgAAAAUAAAAwCEAAPAMAABwRwAA2BIAABAAAAAmAAAACAAAAP//////////MAAAABQAAAAAAAAAAAD//wAAAQAAAP//AAABAA=="/>
              </a:ext>
            </a:extLst>
          </p:cNvSpPr>
          <p:nvPr/>
        </p:nvSpPr>
        <p:spPr>
          <a:xfrm>
            <a:off x="5486400" y="2103120"/>
            <a:ext cx="6126480" cy="960120"/>
          </a:xfrm>
          <a:prstGeom prst="roundRect">
            <a:avLst>
              <a:gd name="adj" fmla="val 7619"/>
            </a:avLst>
          </a:prstGeom>
          <a:solidFill>
            <a:srgbClr val="EFF3F8"/>
          </a:solidFill>
          <a:ln w="12700" cap="flat" cmpd="sng" algn="ctr">
            <a:solidFill>
              <a:srgbClr val="D8E0E8"/>
            </a:solidFill>
            <a:prstDash val="solid"/>
            <a:headEnd type="none"/>
            <a:tailEnd type="none"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16" name="Text 14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Y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CMAAJ0NAAAIRgAA3Q8AABAAAAAmAAAACAAAAP//////////MAAAABQAAAAAAAAAAAD//wAAAQAAAP//AAABAA=="/>
              </a:ext>
            </a:extLst>
          </p:cNvSpPr>
          <p:nvPr/>
        </p:nvSpPr>
        <p:spPr>
          <a:xfrm>
            <a:off x="5715000" y="2212975"/>
            <a:ext cx="566928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Av. </a:t>
            </a:r>
            <a:r>
              <a:rPr lang="en-us" sz="16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Paulista — </a:t>
            </a:r>
            <a:r>
              <a:rPr lang="en-us" sz="16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19h</a:t>
            </a:r>
            <a:endParaRPr lang="en-us" sz="1600" cap="none"/>
          </a:p>
        </p:txBody>
      </p:sp>
      <p:sp>
        <p:nvSpPr>
          <p:cNvPr id="17" name="Text 15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w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CMAAAgQAAAIRgAASBIAABAAAAAmAAAACAAAAP//////////MAAAABQAAAAAAAAAAAD//wAAAQAAAP//AAABAA=="/>
              </a:ext>
            </a:extLst>
          </p:cNvSpPr>
          <p:nvPr/>
        </p:nvSpPr>
        <p:spPr>
          <a:xfrm>
            <a:off x="5715000" y="2606040"/>
            <a:ext cx="566928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E0A038"/>
                </a:solidFill>
                <a:latin typeface="Consolas" pitchFamily="0" charset="0"/>
                <a:ea typeface="Consolas" pitchFamily="0" charset="0"/>
                <a:cs typeface="Consolas" pitchFamily="0" charset="0"/>
              </a:rPr>
              <a:t>1. </a:t>
            </a:r>
            <a:r>
              <a:rPr lang="en-us" sz="1400" b="1" cap="none">
                <a:solidFill>
                  <a:srgbClr val="E0A038"/>
                </a:solidFill>
                <a:latin typeface="Consolas" pitchFamily="0" charset="0"/>
                <a:ea typeface="Consolas" pitchFamily="0" charset="0"/>
                <a:cs typeface="Consolas" pitchFamily="0" charset="0"/>
              </a:rPr>
              <a:t>Roubo   2. </a:t>
            </a:r>
            <a:r>
              <a:rPr lang="en-us" sz="1400" b="1" cap="none">
                <a:solidFill>
                  <a:srgbClr val="E0A038"/>
                </a:solidFill>
                <a:latin typeface="Consolas" pitchFamily="0" charset="0"/>
                <a:ea typeface="Consolas" pitchFamily="0" charset="0"/>
                <a:cs typeface="Consolas" pitchFamily="0" charset="0"/>
              </a:rPr>
              <a:t>Furto</a:t>
            </a:r>
            <a:endParaRPr lang="en-us" sz="1400" cap="none"/>
          </a:p>
        </p:txBody>
      </p:sp>
      <p:sp>
        <p:nvSpPr>
          <p:cNvPr id="18" name="Shape 16"/>
          <p:cNvSpPr>
            <a:extLst>
              <a:ext uri="smNativeData">
                <pr:smNativeData xmlns:pr="smNativeData" xmlns="smNativeData" val="SMDATA_16_kRU2ahMAAAAlAAAAZQAAAA0AAAAAkAAAAEgAAACQAAAASAAAAAAAAAAAAAAAAAAAAAEAAABQAAAA4UBIFjCBwz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BAAAAAAAAANjg6AAU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Njg6AB/f38AucTQAMvLywDAwP8Af39/AAAAAAAAAAAAAAAAAAAAAAAAAAAAIQAAABgAAAAUAAAAwCEAAPgTAABwRwAA4BkAABAAAAAmAAAACAAAAP//////////MAAAABQAAAAAAAAAAAD//wAAAQAAAP//AAABAA=="/>
              </a:ext>
            </a:extLst>
          </p:cNvSpPr>
          <p:nvPr/>
        </p:nvSpPr>
        <p:spPr>
          <a:xfrm>
            <a:off x="5486400" y="3246120"/>
            <a:ext cx="6126480" cy="960120"/>
          </a:xfrm>
          <a:prstGeom prst="roundRect">
            <a:avLst>
              <a:gd name="adj" fmla="val 7619"/>
            </a:avLst>
          </a:prstGeom>
          <a:solidFill>
            <a:srgbClr val="EFF3F8"/>
          </a:solidFill>
          <a:ln w="12700" cap="flat" cmpd="sng" algn="ctr">
            <a:solidFill>
              <a:srgbClr val="D8E0E8"/>
            </a:solidFill>
            <a:prstDash val="solid"/>
            <a:headEnd type="none"/>
            <a:tailEnd type="none"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19" name="Text 17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CMAAKUUAAAIRgAA5RYAABAAAAAmAAAACAAAAP//////////MAAAABQAAAAAAAAAAAD//wAAAQAAAP//AAABAA=="/>
              </a:ext>
            </a:extLst>
          </p:cNvSpPr>
          <p:nvPr/>
        </p:nvSpPr>
        <p:spPr>
          <a:xfrm>
            <a:off x="5715000" y="3355975"/>
            <a:ext cx="566928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Zona </a:t>
            </a:r>
            <a:r>
              <a:rPr lang="en-us" sz="16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Leste — </a:t>
            </a:r>
            <a:r>
              <a:rPr lang="en-us" sz="16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8h</a:t>
            </a:r>
            <a:endParaRPr lang="en-us" sz="1600" cap="none"/>
          </a:p>
        </p:txBody>
      </p:sp>
      <p:sp>
        <p:nvSpPr>
          <p:cNvPr id="20" name="Text 18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CMAABAXAAAIRgAAUBkAABAAAAAmAAAACAAAAP//////////MAAAABQAAAAAAAAAAAD//wAAAQAAAP//AAABAA=="/>
              </a:ext>
            </a:extLst>
          </p:cNvSpPr>
          <p:nvPr/>
        </p:nvSpPr>
        <p:spPr>
          <a:xfrm>
            <a:off x="5715000" y="3749040"/>
            <a:ext cx="566928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E0A038"/>
                </a:solidFill>
                <a:latin typeface="Consolas" pitchFamily="0" charset="0"/>
                <a:ea typeface="Consolas" pitchFamily="0" charset="0"/>
                <a:cs typeface="Consolas" pitchFamily="0" charset="0"/>
              </a:rPr>
              <a:t>1. </a:t>
            </a:r>
            <a:r>
              <a:rPr lang="en-us" sz="1400" b="1" cap="none">
                <a:solidFill>
                  <a:srgbClr val="E0A038"/>
                </a:solidFill>
                <a:latin typeface="Consolas" pitchFamily="0" charset="0"/>
                <a:ea typeface="Consolas" pitchFamily="0" charset="0"/>
                <a:cs typeface="Consolas" pitchFamily="0" charset="0"/>
              </a:rPr>
              <a:t>Furto   2. </a:t>
            </a:r>
            <a:r>
              <a:rPr lang="en-us" sz="1400" b="1" cap="none">
                <a:solidFill>
                  <a:srgbClr val="E0A038"/>
                </a:solidFill>
                <a:latin typeface="Consolas" pitchFamily="0" charset="0"/>
                <a:ea typeface="Consolas" pitchFamily="0" charset="0"/>
                <a:cs typeface="Consolas" pitchFamily="0" charset="0"/>
              </a:rPr>
              <a:t>Furto de </a:t>
            </a:r>
            <a:r>
              <a:rPr lang="en-us" sz="1400" b="1" cap="none">
                <a:solidFill>
                  <a:srgbClr val="E0A038"/>
                </a:solidFill>
                <a:latin typeface="Consolas" pitchFamily="0" charset="0"/>
                <a:ea typeface="Consolas" pitchFamily="0" charset="0"/>
                <a:cs typeface="Consolas" pitchFamily="0" charset="0"/>
              </a:rPr>
              <a:t>veículo</a:t>
            </a:r>
            <a:endParaRPr lang="en-us" sz="1400" cap="none"/>
          </a:p>
        </p:txBody>
      </p:sp>
      <p:sp>
        <p:nvSpPr>
          <p:cNvPr id="21" name="Text 19"/>
          <p:cNvSpPr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CEAACAcAABwRwAAACQAABAAAAAmAAAACAAAAP//////////MAAAABQAAAAAAAAAAAD//wAAAQAAAP//AAABAA=="/>
              </a:ext>
            </a:extLst>
          </p:cNvSpPr>
          <p:nvPr/>
        </p:nvSpPr>
        <p:spPr>
          <a:xfrm>
            <a:off x="5486400" y="4572000"/>
            <a:ext cx="6126480" cy="1280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177800" indent="-177800" algn="l">
              <a:spcAft>
                <a:spcPts val="800"/>
              </a:spcAft>
              <a:buSzTx/>
              <a:buChar char="•"/>
            </a:pPr>
            <a:r>
              <a:rPr lang="en-us" sz="1500" b="1" cap="none">
                <a:solidFill>
                  <a:srgbClr val="283441"/>
                </a:solidFill>
              </a:rPr>
              <a:t>Ordena </a:t>
            </a:r>
            <a:r>
              <a:rPr lang="en-us" sz="1500" b="1" cap="none">
                <a:solidFill>
                  <a:srgbClr val="283441"/>
                </a:solidFill>
              </a:rPr>
              <a:t>opções de menu. </a:t>
            </a:r>
            <a:r>
              <a:rPr lang="en-us" sz="1500" b="1" cap="none">
                <a:solidFill>
                  <a:srgbClr val="283441"/>
                </a:solidFill>
              </a:rPr>
              <a:t>Não </a:t>
            </a:r>
            <a:r>
              <a:rPr lang="en-us" sz="1500" b="1" cap="none">
                <a:solidFill>
                  <a:srgbClr val="283441"/>
                </a:solidFill>
              </a:rPr>
              <a:t>classifica a </a:t>
            </a:r>
            <a:r>
              <a:rPr lang="en-us" sz="1500" b="1" cap="none">
                <a:solidFill>
                  <a:srgbClr val="283441"/>
                </a:solidFill>
              </a:rPr>
              <a:t>ocorrência </a:t>
            </a:r>
            <a:r>
              <a:rPr lang="en-us" sz="1500" b="1" cap="none">
                <a:solidFill>
                  <a:srgbClr val="283441"/>
                </a:solidFill>
              </a:rPr>
              <a:t>nem decide o </a:t>
            </a:r>
            <a:r>
              <a:rPr lang="en-us" sz="1500" b="1" cap="none">
                <a:solidFill>
                  <a:srgbClr val="283441"/>
                </a:solidFill>
              </a:rPr>
              <a:t>despacho.</a:t>
            </a:r>
            <a:endParaRPr lang="en-us" sz="15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CABAACgRwAA0AIAABAAAAAmAAAACAAAAP//////////MAAAABQAAAAAAAAAAAD//wAAAQAAAP//AAABAA=="/>
              </a:ext>
            </a:extLst>
          </p:cNvSpPr>
          <p:nvPr/>
        </p:nvSpPr>
        <p:spPr>
          <a:xfrm>
            <a:off x="548640" y="182880"/>
            <a:ext cx="1109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b="1" cap="none" spc="40">
                <a:solidFill>
                  <a:srgbClr val="E0A038"/>
                </a:solidFill>
              </a:rPr>
              <a:t>RESULTADOS · </a:t>
            </a:r>
            <a:r>
              <a:rPr lang="en-us" sz="1200" b="1" cap="none" spc="40">
                <a:solidFill>
                  <a:srgbClr val="E0A038"/>
                </a:solidFill>
              </a:rPr>
              <a:t>HONESTOS</a:t>
            </a:r>
            <a:endParaRPr lang="en-us" sz="12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CLTD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F0CAACgRwAA3QYAABAAAAAmAAAACAAAAP//////////MAAAABQAAAAAAAAAAAD//wAAAQAAAP//AAABAA=="/>
              </a:ext>
            </a:extLst>
          </p:cNvSpPr>
          <p:nvPr/>
        </p:nvSpPr>
        <p:spPr>
          <a:xfrm>
            <a:off x="548640" y="384175"/>
            <a:ext cx="1109472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Resultados do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modelo</a:t>
            </a:r>
            <a:endParaRPr lang="en-us" sz="30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4L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LgIAABAJgAAOA0AABAAAAAmAAAACAAAAP//////////MAAAABQAAAAAAAAAAAD//wAAAQAAAP//AAABAA=="/>
              </a:ext>
            </a:extLst>
          </p:cNvSpPr>
          <p:nvPr/>
        </p:nvSpPr>
        <p:spPr>
          <a:xfrm>
            <a:off x="548640" y="1417320"/>
            <a:ext cx="566928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4000" b="1" cap="none">
                <a:solidFill>
                  <a:srgbClr val="2E7D5B"/>
                </a:solidFill>
              </a:rPr>
              <a:t>45,7%</a:t>
            </a:r>
            <a:r>
              <a:rPr lang="en-us" sz="1600" b="1" cap="none">
                <a:solidFill>
                  <a:srgbClr val="5B7691"/>
                </a:solidFill>
              </a:rPr>
              <a:t>  top-1</a:t>
            </a:r>
            <a:endParaRPr lang="en-us" b="1" cap="none"/>
          </a:p>
        </p:txBody>
      </p:sp>
      <p:sp>
        <p:nvSpPr>
          <p:cNvPr id="5" name="Text 3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DgNAABAJgAAeA8AABAAAAAmAAAACAAAAP//////////MAAAABQAAAAAAAAAAAD//wAAAQAAAP//AAABAA=="/>
              </a:ext>
            </a:extLst>
          </p:cNvSpPr>
          <p:nvPr/>
        </p:nvSpPr>
        <p:spPr>
          <a:xfrm>
            <a:off x="548640" y="2148840"/>
            <a:ext cx="566928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50" cap="none">
                <a:solidFill>
                  <a:srgbClr val="283441"/>
                </a:solidFill>
              </a:rPr>
              <a:t>vs 36,2% </a:t>
            </a:r>
            <a:r>
              <a:rPr lang="en-us" sz="1350" cap="none">
                <a:solidFill>
                  <a:srgbClr val="283441"/>
                </a:solidFill>
              </a:rPr>
              <a:t>da base-rate  →  +9,5 </a:t>
            </a:r>
            <a:r>
              <a:rPr lang="en-us" sz="1350" cap="none">
                <a:solidFill>
                  <a:srgbClr val="283441"/>
                </a:solidFill>
              </a:rPr>
              <a:t>pp (o </a:t>
            </a:r>
            <a:r>
              <a:rPr lang="en-us" sz="1350" cap="none">
                <a:solidFill>
                  <a:srgbClr val="283441"/>
                </a:solidFill>
              </a:rPr>
              <a:t>ganho real)</a:t>
            </a:r>
            <a:endParaRPr lang="en-us" sz="1350" cap="none"/>
          </a:p>
        </p:txBody>
      </p:sp>
      <p:sp>
        <p:nvSpPr>
          <p:cNvPr id="6" name="Text 4"/>
          <p:cNvSpPr>
            <a:extLst>
              <a:ext uri="smNativeData">
                <pr:smNativeData xmlns:pr="smNativeData" xmlns="smNativeData" val="SMDATA_16_kRU2ah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JgQAABAJgAAiBQAABAAAAAmAAAACAAAAP//////////MAAAABQAAAAAAAAAAAD//wAAAQAAAP//AAABAA=="/>
              </a:ext>
            </a:extLst>
          </p:cNvSpPr>
          <p:nvPr/>
        </p:nvSpPr>
        <p:spPr>
          <a:xfrm>
            <a:off x="548640" y="2697480"/>
            <a:ext cx="566928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400" b="1" cap="none">
                <a:solidFill>
                  <a:srgbClr val="13314F"/>
                </a:solidFill>
              </a:rPr>
              <a:t>82,7%</a:t>
            </a:r>
            <a:r>
              <a:rPr lang="en-us" sz="1500" b="1" cap="none">
                <a:solidFill>
                  <a:srgbClr val="5B7691"/>
                </a:solidFill>
              </a:rPr>
              <a:t>  top-3</a:t>
            </a:r>
            <a:endParaRPr lang="en-us" b="1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IgUAABAJgAAyBYAABAAAAAmAAAACAAAAP//////////MAAAABQAAAAAAAAAAAD//wAAAQAAAP//AAABAA=="/>
              </a:ext>
            </a:extLst>
          </p:cNvSpPr>
          <p:nvPr/>
        </p:nvSpPr>
        <p:spPr>
          <a:xfrm>
            <a:off x="548640" y="3337560"/>
            <a:ext cx="566928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50" cap="none">
                <a:solidFill>
                  <a:srgbClr val="B5483D"/>
                </a:solidFill>
              </a:rPr>
              <a:t>mas a base-rate </a:t>
            </a:r>
            <a:r>
              <a:rPr lang="en-us" sz="1350" cap="none">
                <a:solidFill>
                  <a:srgbClr val="B5483D"/>
                </a:solidFill>
              </a:rPr>
              <a:t>já </a:t>
            </a:r>
            <a:r>
              <a:rPr lang="en-us" sz="1350" cap="none">
                <a:solidFill>
                  <a:srgbClr val="B5483D"/>
                </a:solidFill>
              </a:rPr>
              <a:t>faz 81,2% — top-3 </a:t>
            </a:r>
            <a:r>
              <a:rPr lang="en-us" sz="1350" cap="none">
                <a:solidFill>
                  <a:srgbClr val="B5483D"/>
                </a:solidFill>
              </a:rPr>
              <a:t>vem </a:t>
            </a:r>
            <a:r>
              <a:rPr lang="en-us" sz="1350" cap="none">
                <a:solidFill>
                  <a:srgbClr val="B5483D"/>
                </a:solidFill>
              </a:rPr>
              <a:t>da </a:t>
            </a:r>
            <a:r>
              <a:rPr lang="en-us" sz="1350" cap="none">
                <a:solidFill>
                  <a:srgbClr val="B5483D"/>
                </a:solidFill>
              </a:rPr>
              <a:t>distribuição</a:t>
            </a:r>
            <a:endParaRPr lang="en-us" sz="1350" cap="none"/>
          </a:p>
        </p:txBody>
      </p:sp>
      <p:sp>
        <p:nvSpPr>
          <p:cNvPr id="8" name="Shape 6"/>
          <p:cNvSpPr>
            <a:extLst>
              <a:ext uri="smNativeData">
                <pr:smNativeData xmlns:pr="smNativeData" xmlns="smNativeData" val="SMDATA_16_kRU2ahMAAAAlAAAAZQAAAA0AAAAAkAAAAEgAAACQAAAASAAAAAAAAAAAAAAAAAAAAAEAAABQAAAAkpbK2xFOuz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NBCPDw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AAAAAB/f38AucTQAMvLywDAwP8Af39/AAAAAAAAAAAAAAAAAAAAAAAAAAAAIQAAABgAAAAUAAAAYAMAAOgXAAAgJQAAWCAAABAAAAAmAAAACAAAAP//////////MAAAABQAAAAAAAAAAAD//wAAAQAAAP//AAABAA=="/>
              </a:ext>
            </a:extLst>
          </p:cNvSpPr>
          <p:nvPr/>
        </p:nvSpPr>
        <p:spPr>
          <a:xfrm>
            <a:off x="548640" y="38862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FF3F8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9" name="Text 7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QAAMAYAABIJAAAkBsAABAAAAAmAAAACAAAAP//////////MAAAABQAAAAAAAAAAAD//wAAAQAAAP//AAABAA=="/>
              </a:ext>
            </a:extLst>
          </p:cNvSpPr>
          <p:nvPr/>
        </p:nvSpPr>
        <p:spPr>
          <a:xfrm>
            <a:off x="777240" y="4023360"/>
            <a:ext cx="51206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13314F"/>
                </a:solidFill>
              </a:rPr>
              <a:t>balanced accuracy 0,071      </a:t>
            </a:r>
            <a:r>
              <a:rPr lang="en-us" sz="1500" b="1" cap="none">
                <a:solidFill>
                  <a:srgbClr val="13314F"/>
                </a:solidFill>
              </a:rPr>
              <a:t>macro-F1 0,065</a:t>
            </a:r>
            <a:endParaRPr lang="en-us" sz="1500" b="1" cap="none">
              <a:solidFill>
                <a:srgbClr val="13314F"/>
              </a:solidFill>
            </a:endParaRPr>
          </a:p>
        </p:txBody>
      </p:sp>
      <p:sp>
        <p:nvSpPr>
          <p:cNvPr id="10" name="Text 8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QAANgbAABIJAAAOB8AABAAAAAmAAAACAAAAP//////////MAAAABQAAAAAAAAAAAD//wAAAQAAAP//AAABAA=="/>
              </a:ext>
            </a:extLst>
          </p:cNvSpPr>
          <p:nvPr/>
        </p:nvSpPr>
        <p:spPr>
          <a:xfrm>
            <a:off x="777240" y="4526280"/>
            <a:ext cx="51206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283441"/>
                </a:solidFill>
              </a:rPr>
              <a:t>baixos: o </a:t>
            </a:r>
            <a:r>
              <a:rPr lang="en-us" sz="1300" cap="none">
                <a:solidFill>
                  <a:srgbClr val="283441"/>
                </a:solidFill>
              </a:rPr>
              <a:t>modelo </a:t>
            </a:r>
            <a:r>
              <a:rPr lang="en-us" sz="1300" cap="none">
                <a:solidFill>
                  <a:srgbClr val="283441"/>
                </a:solidFill>
              </a:rPr>
              <a:t>acerta as classes </a:t>
            </a:r>
            <a:r>
              <a:rPr lang="en-us" sz="1300" cap="none">
                <a:solidFill>
                  <a:srgbClr val="283441"/>
                </a:solidFill>
              </a:rPr>
              <a:t>comuns e </a:t>
            </a:r>
            <a:r>
              <a:rPr lang="en-us" sz="1300" cap="none">
                <a:solidFill>
                  <a:srgbClr val="283441"/>
                </a:solidFill>
              </a:rPr>
              <a:t>erra as </a:t>
            </a:r>
            <a:r>
              <a:rPr lang="en-us" sz="1300" cap="none">
                <a:solidFill>
                  <a:srgbClr val="283441"/>
                </a:solidFill>
              </a:rPr>
              <a:t>raras.</a:t>
            </a:r>
            <a:endParaRPr lang="en-us" sz="1300" cap="none"/>
          </a:p>
        </p:txBody>
      </p:sp>
      <p:sp>
        <p:nvSpPr>
          <p:cNvPr id="11" name="Text 9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MAhAAAgJQAA0CYAABAAAAAmAAAACAAAAP//////////MAAAABQAAAAAAAAAAAD//wAAAQAAAP//AAABAA=="/>
              </a:ext>
            </a:extLst>
          </p:cNvSpPr>
          <p:nvPr/>
        </p:nvSpPr>
        <p:spPr>
          <a:xfrm>
            <a:off x="548640" y="5486400"/>
            <a:ext cx="548640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50" i="1" cap="none">
                <a:solidFill>
                  <a:srgbClr val="5B7691"/>
                </a:solidFill>
              </a:rPr>
              <a:t>Melhora o top-1; </a:t>
            </a:r>
            <a:r>
              <a:rPr lang="en-us" sz="1350" i="1" cap="none">
                <a:solidFill>
                  <a:srgbClr val="5B7691"/>
                </a:solidFill>
              </a:rPr>
              <a:t>concentra </a:t>
            </a:r>
            <a:r>
              <a:rPr lang="en-us" sz="1350" i="1" cap="none">
                <a:solidFill>
                  <a:srgbClr val="5B7691"/>
                </a:solidFill>
              </a:rPr>
              <a:t>previsões em </a:t>
            </a:r>
            <a:r>
              <a:rPr lang="en-us" sz="1350" i="1" cap="none">
                <a:solidFill>
                  <a:srgbClr val="5B7691"/>
                </a:solidFill>
              </a:rPr>
              <a:t>Furto/</a:t>
            </a:r>
            <a:r>
              <a:rPr lang="en-us" sz="1350" i="1" cap="none">
                <a:solidFill>
                  <a:srgbClr val="5B7691"/>
                </a:solidFill>
              </a:rPr>
              <a:t>Roubo; </a:t>
            </a:r>
            <a:r>
              <a:rPr lang="en-us" sz="1350" i="1" cap="none">
                <a:solidFill>
                  <a:srgbClr val="5B7691"/>
                </a:solidFill>
              </a:rPr>
              <a:t>pouca </a:t>
            </a:r>
            <a:r>
              <a:rPr lang="en-us" sz="1350" i="1" cap="none">
                <a:solidFill>
                  <a:srgbClr val="5B7691"/>
                </a:solidFill>
              </a:rPr>
              <a:t>leitura </a:t>
            </a:r>
            <a:r>
              <a:rPr lang="en-us" sz="1350" i="1" cap="none">
                <a:solidFill>
                  <a:srgbClr val="5B7691"/>
                </a:solidFill>
              </a:rPr>
              <a:t>para crime </a:t>
            </a:r>
            <a:r>
              <a:rPr lang="en-us" sz="1350" i="1" cap="none">
                <a:solidFill>
                  <a:srgbClr val="5B7691"/>
                </a:solidFill>
              </a:rPr>
              <a:t>raro.</a:t>
            </a:r>
            <a:endParaRPr lang="en-us" sz="1350" cap="none"/>
          </a:p>
        </p:txBody>
      </p:sp>
      <p:sp>
        <p:nvSpPr>
          <p:cNvPr id="12" name="Shape 10"/>
          <p:cNvSpPr>
            <a:extLst>
              <a:ext uri="smNativeData">
                <pr:smNativeData xmlns:pr="smNativeData" xmlns="smNativeData" val="SMDATA_16_kRU2ahMAAAAlAAAAZQAAAA0AAAAAkAAAAEgAAACQAAAASAAAAAAAAAAAAAAAAAAAAAEAAABQAAAAZB75g4Hnnj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AAAAAB/f38AucTQAMvLywDAwP8Af39/AAAAAAAAAAAAAAAAAAAAAAAAAAAAIQAAABgAAAAUAAAA0CYAALgIAABwRwAAiCYAABAAAAAmAAAACAAAAP//////////MAAAABQAAAAAAAAAAAD//wAAAQAAAP//AAABAA=="/>
              </a:ext>
            </a:extLst>
          </p:cNvSpPr>
          <p:nvPr/>
        </p:nvSpPr>
        <p:spPr>
          <a:xfrm>
            <a:off x="6309360" y="141732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EFF3F8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pic>
        <p:nvPicPr>
          <p:cNvPr id="13" name="Image 0" descr="C:/GIT/crime-sp-ml/crime-sp-ml/reports/figures/confusion_matrix.png"/>
          <p:cNvPicPr>
            <a:picLocks noChangeAspect="1"/>
            <a:extLst>
              <a:ext uri="smNativeData">
                <pr:smNativeData xmlns:pr="smNativeData" xmlns="smNativeData" val="SMDATA_18_kRU2ah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gnAACQCQAAmEYAALAlAAAQAAAAJgAAAAgAAAD//////////zAAAAAUAAAAAAAAAAAA//8AAAEAAAD//wAAAQA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54480"/>
            <a:ext cx="5029200" cy="4572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j9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CABAACgRwAA0AIAABAAAAAmAAAACAAAAP//////////MAAAABQAAAAAAAAAAAD//wAAAQAAAP//AAABAA=="/>
              </a:ext>
            </a:extLst>
          </p:cNvSpPr>
          <p:nvPr/>
        </p:nvSpPr>
        <p:spPr>
          <a:xfrm>
            <a:off x="548640" y="182880"/>
            <a:ext cx="1109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b="1" cap="none" spc="40">
                <a:solidFill>
                  <a:srgbClr val="E0A038"/>
                </a:solidFill>
              </a:rPr>
              <a:t>HONESTIDADE</a:t>
            </a:r>
            <a:endParaRPr lang="en-us" sz="12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l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F0CAACgRwAA3QYAABAAAAAmAAAACAAAAP//////////MAAAABQAAAAAAAAAAAD//wAAAQAAAP//AAABAA=="/>
              </a:ext>
            </a:extLst>
          </p:cNvSpPr>
          <p:nvPr/>
        </p:nvSpPr>
        <p:spPr>
          <a:xfrm>
            <a:off x="548640" y="384175"/>
            <a:ext cx="1109472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Limitações e </a:t>
            </a:r>
            <a:r>
              <a:rPr lang="en-us" sz="3000" b="1" cap="none">
                <a:solidFill>
                  <a:srgbClr val="13314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ética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6_kRU2ahMAAAAlAAAAZQAAAA0AAAAAkAAAAEgAAACQAAAASAAAAAAAAAAAAAAAAAAAAAEAAABQAAAADVTGv8+4oD8AAAAAAADwvwAAAAAAAOA/AAAAAAAA4D8AAAAAAADgPwAAAAAAAOA/AAAAAAAA4D8AAAAAAADgPwAAAAAAAOA/AAAAAAAA4D8CAAAAjAAAAAEAAAAAAAAA7/P4AP///wgAAAAAAAAAAAAAAAAAAAAAAAAAAAAAAAAAAAAAeAAAAAEAAABAAAAAAAAAAAAAAABaAAAAAAAAAAAAAAAAAAAAAAAAAAAAAAAAAAAAAAAAAAAAAAAAAAAAAAAAAAAAAAAAAAAAAAAAAAAAAAAAAAAAAAAAAAAAAAAAAAAAFAAAADwAAAABAAAAAAAAANjg6AAU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F0o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/P4AP///wEAAAAAAAAAAAAAAAAAAAAAAAAAAAAAAAAAAAAAAAAAANjg6AB/f38AucTQAMvLywDAwP8Af39/AAAAAAAAAAAAAAAAAAAAAAAAAAAAIQAAABgAAAAUAAAAYAMAAJAJAACQJAAAICUAABAAAAAmAAAACAAAAP//////////MAAAABQAAAAAAAAAAAD//wAAAQAAAP//AAABAA=="/>
              </a:ext>
            </a:extLst>
          </p:cNvSpPr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FF3F8"/>
          </a:solidFill>
          <a:ln w="12700" cap="flat" cmpd="sng" algn="ctr">
            <a:solidFill>
              <a:srgbClr val="D8E0E8"/>
            </a:solidFill>
            <a:prstDash val="solid"/>
            <a:headEnd type="none"/>
            <a:tailEnd type="none"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w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UAALAKAADgIgAAgA0AABAAAAAmAAAACAAAAP//////////MAAAABQAAAAAAAAAAAD//wAAAQAAAP//AAABAA=="/>
              </a:ext>
            </a:extLst>
          </p:cNvSpPr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900" b="1" cap="none">
                <a:solidFill>
                  <a:srgbClr val="B5483D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Limitações</a:t>
            </a:r>
            <a:endParaRPr lang="en-us" sz="1900" cap="none"/>
          </a:p>
        </p:txBody>
      </p:sp>
      <p:sp>
        <p:nvSpPr>
          <p:cNvPr id="6" name="Text 4"/>
          <p:cNvSpPr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Ctlz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UAABAOAADgIgAAACQAABAAAAAmAAAACAAAAP//////////MAAAABQAAAAAAAAAAAD//wAAAQAAAP//AAABAA=="/>
              </a:ext>
            </a:extLst>
          </p:cNvSpPr>
          <p:nvPr/>
        </p:nvSpPr>
        <p:spPr>
          <a:xfrm>
            <a:off x="822960" y="2286000"/>
            <a:ext cx="4846320" cy="3566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177800" indent="-177800" algn="l">
              <a:spcAft>
                <a:spcPts val="800"/>
              </a:spcAft>
              <a:buSzTx/>
              <a:buChar char="•"/>
            </a:pPr>
            <a:r>
              <a:rPr lang="en-us" sz="1450" cap="none">
                <a:solidFill>
                  <a:srgbClr val="283441"/>
                </a:solidFill>
              </a:rPr>
              <a:t>Não distingue </a:t>
            </a:r>
            <a:r>
              <a:rPr lang="en-us" sz="1450" cap="none">
                <a:solidFill>
                  <a:srgbClr val="283441"/>
                </a:solidFill>
              </a:rPr>
              <a:t>bem crime </a:t>
            </a:r>
            <a:r>
              <a:rPr lang="en-us" sz="1450" cap="none">
                <a:solidFill>
                  <a:srgbClr val="283441"/>
                </a:solidFill>
              </a:rPr>
              <a:t>raro (</a:t>
            </a:r>
            <a:r>
              <a:rPr lang="en-us" sz="1450" cap="none">
                <a:solidFill>
                  <a:srgbClr val="283441"/>
                </a:solidFill>
              </a:rPr>
              <a:t>macro-F1 </a:t>
            </a:r>
            <a:r>
              <a:rPr lang="en-us" sz="1450" cap="none">
                <a:solidFill>
                  <a:srgbClr val="283441"/>
                </a:solidFill>
              </a:rPr>
              <a:t>baixo).</a:t>
            </a:r>
            <a:r>
              <a:rPr lang="en-us" sz="1450" cap="none">
                <a:solidFill>
                  <a:srgbClr val="283441"/>
                </a:solidFill>
              </a:rPr>
              <a:t>Mapas </a:t>
            </a:r>
            <a:r>
              <a:rPr lang="en-us" sz="1450" cap="none">
                <a:solidFill>
                  <a:srgbClr val="283441"/>
                </a:solidFill>
              </a:rPr>
              <a:t>refletem </a:t>
            </a:r>
            <a:r>
              <a:rPr lang="en-us" sz="1450" cap="none">
                <a:solidFill>
                  <a:srgbClr val="283441"/>
                </a:solidFill>
              </a:rPr>
              <a:t>registro e </a:t>
            </a:r>
            <a:r>
              <a:rPr lang="en-us" sz="1450" cap="none">
                <a:solidFill>
                  <a:srgbClr val="283441"/>
                </a:solidFill>
              </a:rPr>
              <a:t>circulação, </a:t>
            </a:r>
            <a:r>
              <a:rPr lang="en-us" sz="1450" cap="none">
                <a:solidFill>
                  <a:srgbClr val="283441"/>
                </a:solidFill>
              </a:rPr>
              <a:t>não </a:t>
            </a:r>
            <a:r>
              <a:rPr lang="en-us" sz="1450" cap="none">
                <a:solidFill>
                  <a:srgbClr val="283441"/>
                </a:solidFill>
              </a:rPr>
              <a:t>risco </a:t>
            </a:r>
            <a:r>
              <a:rPr lang="en-us" sz="1450" cap="none">
                <a:solidFill>
                  <a:srgbClr val="283441"/>
                </a:solidFill>
              </a:rPr>
              <a:t>individual.Dados </a:t>
            </a:r>
            <a:r>
              <a:rPr lang="en-us" sz="1450" cap="none">
                <a:solidFill>
                  <a:srgbClr val="283441"/>
                </a:solidFill>
              </a:rPr>
              <a:t>históricos </a:t>
            </a:r>
            <a:r>
              <a:rPr lang="en-us" sz="1450" cap="none">
                <a:solidFill>
                  <a:srgbClr val="283441"/>
                </a:solidFill>
              </a:rPr>
              <a:t>podem </a:t>
            </a:r>
            <a:r>
              <a:rPr lang="en-us" sz="1450" cap="none">
                <a:solidFill>
                  <a:srgbClr val="283441"/>
                </a:solidFill>
              </a:rPr>
              <a:t>carregar </a:t>
            </a:r>
            <a:r>
              <a:rPr lang="en-us" sz="1450" cap="none">
                <a:solidFill>
                  <a:srgbClr val="283441"/>
                </a:solidFill>
              </a:rPr>
              <a:t>viés de </a:t>
            </a:r>
            <a:r>
              <a:rPr lang="en-us" sz="1450" cap="none">
                <a:solidFill>
                  <a:srgbClr val="283441"/>
                </a:solidFill>
              </a:rPr>
              <a:t>notificação e de </a:t>
            </a:r>
            <a:r>
              <a:rPr lang="en-us" sz="1450" cap="none">
                <a:solidFill>
                  <a:srgbClr val="283441"/>
                </a:solidFill>
              </a:rPr>
              <a:t>policiamento.Só </a:t>
            </a:r>
            <a:r>
              <a:rPr lang="en-us" sz="1450" cap="none">
                <a:solidFill>
                  <a:srgbClr val="283441"/>
                </a:solidFill>
              </a:rPr>
              <a:t>três </a:t>
            </a:r>
            <a:r>
              <a:rPr lang="en-us" sz="1450" cap="none">
                <a:solidFill>
                  <a:srgbClr val="283441"/>
                </a:solidFill>
              </a:rPr>
              <a:t>variáveis de </a:t>
            </a:r>
            <a:r>
              <a:rPr lang="en-us" sz="1450" cap="none">
                <a:solidFill>
                  <a:srgbClr val="283441"/>
                </a:solidFill>
              </a:rPr>
              <a:t>entrada — local e hora </a:t>
            </a:r>
            <a:r>
              <a:rPr lang="en-us" sz="1450" cap="none">
                <a:solidFill>
                  <a:srgbClr val="283441"/>
                </a:solidFill>
              </a:rPr>
              <a:t>levam </a:t>
            </a:r>
            <a:r>
              <a:rPr lang="en-us" sz="1450" cap="none">
                <a:solidFill>
                  <a:srgbClr val="283441"/>
                </a:solidFill>
              </a:rPr>
              <a:t>até </a:t>
            </a:r>
            <a:r>
              <a:rPr lang="en-us" sz="1450" cap="none">
                <a:solidFill>
                  <a:srgbClr val="283441"/>
                </a:solidFill>
              </a:rPr>
              <a:t>certo </a:t>
            </a:r>
            <a:r>
              <a:rPr lang="en-us" sz="1450" cap="none">
                <a:solidFill>
                  <a:srgbClr val="283441"/>
                </a:solidFill>
              </a:rPr>
              <a:t>ponto.</a:t>
            </a:r>
            <a:endParaRPr lang="en-us" sz="1450" cap="none">
              <a:solidFill>
                <a:srgbClr val="283441"/>
              </a:solidFill>
            </a:endParaRPr>
          </a:p>
        </p:txBody>
      </p:sp>
      <p:sp>
        <p:nvSpPr>
          <p:cNvPr id="7" name="Shape 5"/>
          <p:cNvSpPr>
            <a:extLst>
              <a:ext uri="smNativeData">
                <pr:smNativeData xmlns:pr="smNativeData" xmlns="smNativeData" val="SMDATA_16_kRU2ahMAAAAlAAAAZQAAAA0AAAAAkAAAAEgAAACQAAAASAAAAAAAAAAAAAAAAAAAAAEAAABQAAAADVTGv8+4oD8AAAAAAADwvwAAAAAAAOA/AAAAAAAA4D8AAAAAAADgPwAAAAAAAOA/AAAAAAAA4D8AAAAAAADgPwAAAAAAAOA/AAAAAAAA4D8CAAAAjAAAAAEAAAAAAAAADyR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C5xNAAPAAAAAAAAAAoAAAAZAAAAGQAAAAAAAAAy8vLADwAAAAAAAAAKAAAAGQAAABkAAAAAAAAABcAAAAUAAAAAAAAAAAAAAD/fwAA/38AAAAAAAAJAAAABAAAAAI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DyRAAP///wEAAAAAAAAAAAAAAAAAAAAAAAAAAAAAAAAAAAAAAAAAAAAAAAB/f38AucTQAMvLywDAwP8Af39/AAAAAAAAAAAAAAAAAAAAAAAAAAAAIQAAABgAAAAUAAAAiCYAAJAJAABwRwAAICUAABAAAAAmAAAACAAAAP//////////MAAAABQAAAAAAAAAAAD//wAAAQAAAP//AAABAA=="/>
              </a:ext>
            </a:extLst>
          </p:cNvSpPr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0F2440"/>
          </a:solidFill>
          <a:ln>
            <a:noFill/>
          </a:ln>
          <a:effectLst>
            <a:outerShdw blurRad="76200" dist="25400" dir="5400000" algn="bl">
              <a:srgbClr val="B9C4D0">
                <a:alpha val="40000"/>
              </a:srgbClr>
            </a:outerShdw>
          </a:effectLst>
        </p:spPr>
      </p:sp>
      <p:sp>
        <p:nvSpPr>
          <p:cNvPr id="8" name="Text 6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A/gU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CgAALAKAAAIRgAAgA0AABAAAAAmAAAACAAAAP//////////MAAAABQAAAAAAAAAAAD//wAAAQAAAP//AAABAA=="/>
              </a:ext>
            </a:extLst>
          </p:cNvSpPr>
          <p:nvPr/>
        </p:nvSpPr>
        <p:spPr>
          <a:xfrm>
            <a:off x="6537960" y="1737360"/>
            <a:ext cx="484632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900" b="1" cap="none">
                <a:solidFill>
                  <a:srgbClr val="E0A038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Ética</a:t>
            </a:r>
            <a:endParaRPr lang="en-us" sz="1900" cap="none"/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CgAABAOAAAIRgAAACQAABAAAAAmAAAACAAAAP//////////MAAAABQAAAAAAAAAAAD//wAAAQAAAP//AAABAA=="/>
              </a:ext>
            </a:extLst>
          </p:cNvSpPr>
          <p:nvPr/>
        </p:nvSpPr>
        <p:spPr>
          <a:xfrm>
            <a:off x="6537960" y="2286000"/>
            <a:ext cx="4846320" cy="3566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177800" indent="-177800" algn="l">
              <a:spcAft>
                <a:spcPts val="800"/>
              </a:spcAft>
              <a:buSzTx/>
              <a:buChar char="•"/>
            </a:pPr>
            <a:r>
              <a:rPr lang="en-us" sz="1450" cap="none">
                <a:solidFill>
                  <a:srgbClr val="DCE6F0"/>
                </a:solidFill>
              </a:rPr>
              <a:t>Protótipo </a:t>
            </a:r>
            <a:r>
              <a:rPr lang="en-us" sz="1450" cap="none">
                <a:solidFill>
                  <a:srgbClr val="DCE6F0"/>
                </a:solidFill>
              </a:rPr>
              <a:t>acadêmico: </a:t>
            </a:r>
            <a:r>
              <a:rPr lang="en-us" sz="1450" cap="none">
                <a:solidFill>
                  <a:srgbClr val="DCE6F0"/>
                </a:solidFill>
              </a:rPr>
              <a:t>ordena </a:t>
            </a:r>
            <a:r>
              <a:rPr lang="en-us" sz="1450" cap="none">
                <a:solidFill>
                  <a:srgbClr val="DCE6F0"/>
                </a:solidFill>
              </a:rPr>
              <a:t>opções de menu, </a:t>
            </a:r>
            <a:r>
              <a:rPr lang="en-us" sz="1450" cap="none">
                <a:solidFill>
                  <a:srgbClr val="DCE6F0"/>
                </a:solidFill>
              </a:rPr>
              <a:t>não </a:t>
            </a:r>
            <a:r>
              <a:rPr lang="en-us" sz="1450" cap="none">
                <a:solidFill>
                  <a:srgbClr val="DCE6F0"/>
                </a:solidFill>
              </a:rPr>
              <a:t>decide.Sempre </a:t>
            </a:r>
            <a:r>
              <a:rPr lang="en-us" sz="1450" cap="none">
                <a:solidFill>
                  <a:srgbClr val="DCE6F0"/>
                </a:solidFill>
              </a:rPr>
              <a:t>há a </a:t>
            </a:r>
            <a:r>
              <a:rPr lang="en-us" sz="1450" cap="none">
                <a:solidFill>
                  <a:srgbClr val="DCE6F0"/>
                </a:solidFill>
              </a:rPr>
              <a:t>opção de </a:t>
            </a:r>
            <a:r>
              <a:rPr lang="en-us" sz="1450" cap="none">
                <a:solidFill>
                  <a:srgbClr val="DCE6F0"/>
                </a:solidFill>
              </a:rPr>
              <a:t>falar </a:t>
            </a:r>
            <a:r>
              <a:rPr lang="en-us" sz="1450" cap="none">
                <a:solidFill>
                  <a:srgbClr val="DCE6F0"/>
                </a:solidFill>
              </a:rPr>
              <a:t>com </a:t>
            </a:r>
            <a:r>
              <a:rPr lang="en-us" sz="1450" cap="none">
                <a:solidFill>
                  <a:srgbClr val="DCE6F0"/>
                </a:solidFill>
              </a:rPr>
              <a:t>atendente </a:t>
            </a:r>
            <a:r>
              <a:rPr lang="en-us" sz="1450" cap="none">
                <a:solidFill>
                  <a:srgbClr val="DCE6F0"/>
                </a:solidFill>
              </a:rPr>
              <a:t>humano.Não </a:t>
            </a:r>
            <a:r>
              <a:rPr lang="en-us" sz="1450" cap="none">
                <a:solidFill>
                  <a:srgbClr val="DCE6F0"/>
                </a:solidFill>
              </a:rPr>
              <a:t>direciona </a:t>
            </a:r>
            <a:r>
              <a:rPr lang="en-us" sz="1450" cap="none">
                <a:solidFill>
                  <a:srgbClr val="DCE6F0"/>
                </a:solidFill>
              </a:rPr>
              <a:t>policiamento </a:t>
            </a:r>
            <a:r>
              <a:rPr lang="en-us" sz="1450" cap="none">
                <a:solidFill>
                  <a:srgbClr val="DCE6F0"/>
                </a:solidFill>
              </a:rPr>
              <a:t>nem </a:t>
            </a:r>
            <a:r>
              <a:rPr lang="en-us" sz="1450" cap="none">
                <a:solidFill>
                  <a:srgbClr val="DCE6F0"/>
                </a:solidFill>
              </a:rPr>
              <a:t>despacho.Uso real </a:t>
            </a:r>
            <a:r>
              <a:rPr lang="en-us" sz="1450" cap="none">
                <a:solidFill>
                  <a:srgbClr val="DCE6F0"/>
                </a:solidFill>
              </a:rPr>
              <a:t>exigiria </a:t>
            </a:r>
            <a:r>
              <a:rPr lang="en-us" sz="1450" cap="none">
                <a:solidFill>
                  <a:srgbClr val="DCE6F0"/>
                </a:solidFill>
              </a:rPr>
              <a:t>validação temporal e auditoria de </a:t>
            </a:r>
            <a:r>
              <a:rPr lang="en-us" sz="1450" cap="none">
                <a:solidFill>
                  <a:srgbClr val="DCE6F0"/>
                </a:solidFill>
              </a:rPr>
              <a:t>viés.</a:t>
            </a:r>
            <a:endParaRPr lang="en-us" sz="1450" cap="none">
              <a:solidFill>
                <a:srgbClr val="DCE6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4"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6_kRU2ahMAAAAlAAAAZgAAAA0AAAAAkAAAAEgAAACQAAAASAAAAAAAAAAAAAAAAAAAAAEAAABQAAAAAAAAAAAA8D8AAAAAAADwPwAAAAAAAOA/AAAAAAAA4D8AAAAAAADgPwAAAAAAAOA/AAAAAAAA4D8AAAAAAADgPwAAAAAAAOA/AAAAAAAA4D8CAAAAjAAAAAEAAAAAAAAAHDpe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Ctlz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DpeAP///wEAAAAAAAAAAAAAAAAAAAAAAAAAAAAAAAAAAAAAAAAAAAAAAAB/f38A5+bmA8zMzADAwP8Af39/AAAAAAAAAAAAAAAAAAAAAAAAAAAAIQAAABgAAAAUAAAAQPn//0AdAABACwAAQC8AABAAAAAmAAAACAAAAP//////////MAAAABQAAAAAAAAAAAD//wAAAQAAAP//AAABAA=="/>
              </a:ext>
            </a:extLst>
          </p:cNvSpPr>
          <p:nvPr/>
        </p:nvSpPr>
        <p:spPr>
          <a:xfrm>
            <a:off x="-1097280" y="4754880"/>
            <a:ext cx="2926080" cy="2926080"/>
          </a:xfrm>
          <a:prstGeom prst="ellipse">
            <a:avLst/>
          </a:prstGeom>
          <a:solidFill>
            <a:srgbClr val="1C3A5E"/>
          </a:solidFill>
          <a:ln>
            <a:noFill/>
          </a:ln>
          <a:effectLst/>
        </p:spPr>
      </p:sp>
      <p:sp>
        <p:nvSpPr>
          <p:cNvPr id="3" name="Text 1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QZ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CABAACgRwAA0AIAABAAAAAmAAAACAAAAP//////////MAAAABQAAAAAAAAAAAD//wAAAQAAAP//AAABAA=="/>
              </a:ext>
            </a:extLst>
          </p:cNvSpPr>
          <p:nvPr/>
        </p:nvSpPr>
        <p:spPr>
          <a:xfrm>
            <a:off x="548640" y="182880"/>
            <a:ext cx="1109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b="1" cap="none" spc="40">
                <a:solidFill>
                  <a:srgbClr val="E0A038"/>
                </a:solidFill>
              </a:rPr>
              <a:t>CONCLUSÃO</a:t>
            </a:r>
            <a:endParaRPr lang="en-us" sz="12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D5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BAFAABAQQAAIAoAABAAAAAmAAAACAAAAP//////////MAAAABQAAAAAAAAAAAD//wAAAQAAAP//AAABAA=="/>
              </a:ext>
            </a:extLst>
          </p:cNvSpPr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3200" b="1" cap="none">
                <a:solidFill>
                  <a:srgbClr val="FFFFF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O </a:t>
            </a:r>
            <a:r>
              <a:rPr lang="en-us" sz="3200" b="1" cap="none">
                <a:solidFill>
                  <a:srgbClr val="FFFFF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que </a:t>
            </a:r>
            <a:r>
              <a:rPr lang="en-us" sz="3200" b="1" cap="none">
                <a:solidFill>
                  <a:srgbClr val="FFFFF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dá </a:t>
            </a:r>
            <a:r>
              <a:rPr lang="en-us" sz="3200" b="1" cap="none">
                <a:solidFill>
                  <a:srgbClr val="FFFFF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para defender</a:t>
            </a:r>
            <a:endParaRPr lang="en-us" sz="3200" cap="none"/>
          </a:p>
        </p:txBody>
      </p:sp>
      <p:sp>
        <p:nvSpPr>
          <p:cNvPr id="5" name="Text 3"/>
          <p:cNvSpPr>
            <a:extLst>
              <a:ext uri="smNativeData">
                <pr:smNativeData xmlns:pr="smNativeData" xmlns="smNativeData" val="SMDATA_16_kRU2ah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GAMAADgRgAAkCQAAAAAAAAmAAAACAAAAP//////////MAAAABQAAAAAAAAAAAD//wAAAQAAAP//AAABAA=="/>
              </a:ext>
            </a:extLst>
          </p:cNvSpPr>
          <p:nvPr/>
        </p:nvSpPr>
        <p:spPr>
          <a:xfrm>
            <a:off x="548640" y="2011680"/>
            <a:ext cx="10972800" cy="3931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177800" indent="-177800" algn="l">
              <a:spcAft>
                <a:spcPts val="800"/>
              </a:spcAft>
              <a:buSzTx/>
              <a:buChar char="•"/>
            </a:pPr>
            <a:r>
              <a:rPr lang="en-us" sz="1700" b="1" cap="none">
                <a:solidFill>
                  <a:srgbClr val="E7EEF6"/>
                </a:solidFill>
              </a:rPr>
              <a:t>O </a:t>
            </a:r>
            <a:r>
              <a:rPr lang="en-us" sz="1700" b="1" cap="none">
                <a:solidFill>
                  <a:srgbClr val="E7EEF6"/>
                </a:solidFill>
              </a:rPr>
              <a:t>horário </a:t>
            </a:r>
            <a:r>
              <a:rPr lang="en-us" sz="1700" b="1" cap="none">
                <a:solidFill>
                  <a:srgbClr val="E7EEF6"/>
                </a:solidFill>
              </a:rPr>
              <a:t>ajuda: </a:t>
            </a:r>
            <a:r>
              <a:rPr lang="en-us" sz="1700" b="1" cap="none">
                <a:solidFill>
                  <a:srgbClr val="E7EEF6"/>
                </a:solidFill>
              </a:rPr>
              <a:t>os clusters </a:t>
            </a:r>
            <a:r>
              <a:rPr lang="en-us" sz="1700" b="1" cap="none">
                <a:solidFill>
                  <a:srgbClr val="E7EEF6"/>
                </a:solidFill>
              </a:rPr>
              <a:t>centrais </a:t>
            </a:r>
            <a:r>
              <a:rPr lang="en-us" sz="1700" b="1" cap="none">
                <a:solidFill>
                  <a:srgbClr val="E7EEF6"/>
                </a:solidFill>
              </a:rPr>
              <a:t>se </a:t>
            </a:r>
            <a:r>
              <a:rPr lang="en-us" sz="1700" b="1" cap="none">
                <a:solidFill>
                  <a:srgbClr val="E7EEF6"/>
                </a:solidFill>
              </a:rPr>
              <a:t>separam </a:t>
            </a:r>
            <a:r>
              <a:rPr lang="en-us" sz="1700" b="1" cap="none">
                <a:solidFill>
                  <a:srgbClr val="E7EEF6"/>
                </a:solidFill>
              </a:rPr>
              <a:t>por hora e o top-1 </a:t>
            </a:r>
            <a:r>
              <a:rPr lang="en-us" sz="1700" b="1" cap="none">
                <a:solidFill>
                  <a:srgbClr val="E7EEF6"/>
                </a:solidFill>
              </a:rPr>
              <a:t>sobe +9,5 </a:t>
            </a:r>
            <a:r>
              <a:rPr lang="en-us" sz="1700" b="1" cap="none">
                <a:solidFill>
                  <a:srgbClr val="E7EEF6"/>
                </a:solidFill>
              </a:rPr>
              <a:t>pp </a:t>
            </a:r>
            <a:r>
              <a:rPr lang="en-us" sz="1700" b="1" cap="none">
                <a:solidFill>
                  <a:srgbClr val="E7EEF6"/>
                </a:solidFill>
              </a:rPr>
              <a:t>sobre a </a:t>
            </a:r>
            <a:r>
              <a:rPr lang="en-us" sz="1700" b="1" cap="none">
                <a:solidFill>
                  <a:srgbClr val="E7EEF6"/>
                </a:solidFill>
              </a:rPr>
              <a:t>base-rate.O </a:t>
            </a:r>
            <a:r>
              <a:rPr lang="en-us" sz="1700" b="1" cap="none">
                <a:solidFill>
                  <a:srgbClr val="E7EEF6"/>
                </a:solidFill>
              </a:rPr>
              <a:t>ganho é </a:t>
            </a:r>
            <a:r>
              <a:rPr lang="en-us" sz="1700" b="1" cap="none">
                <a:solidFill>
                  <a:srgbClr val="E7EEF6"/>
                </a:solidFill>
              </a:rPr>
              <a:t>modesto e </a:t>
            </a:r>
            <a:r>
              <a:rPr lang="en-us" sz="1700" b="1" cap="none">
                <a:solidFill>
                  <a:srgbClr val="E7EEF6"/>
                </a:solidFill>
              </a:rPr>
              <a:t>está no top-1 — o top-3 alto </a:t>
            </a:r>
            <a:r>
              <a:rPr lang="en-us" sz="1700" b="1" cap="none">
                <a:solidFill>
                  <a:srgbClr val="E7EEF6"/>
                </a:solidFill>
              </a:rPr>
              <a:t>vem </a:t>
            </a:r>
            <a:r>
              <a:rPr lang="en-us" sz="1700" b="1" cap="none">
                <a:solidFill>
                  <a:srgbClr val="E7EEF6"/>
                </a:solidFill>
              </a:rPr>
              <a:t>da </a:t>
            </a:r>
            <a:r>
              <a:rPr lang="en-us" sz="1700" b="1" cap="none">
                <a:solidFill>
                  <a:srgbClr val="E7EEF6"/>
                </a:solidFill>
              </a:rPr>
              <a:t>distribuição </a:t>
            </a:r>
            <a:r>
              <a:rPr lang="en-us" sz="1700" b="1" cap="none">
                <a:solidFill>
                  <a:srgbClr val="E7EEF6"/>
                </a:solidFill>
              </a:rPr>
              <a:t>das classes.</a:t>
            </a:r>
            <a:endParaRPr lang="en-us" sz="1700" b="1" cap="none">
              <a:solidFill>
                <a:srgbClr val="E7EEF6"/>
              </a:solidFill>
            </a:endParaRPr>
          </a:p>
          <a:p>
            <a:pPr marL="177800" indent="-177800" algn="l">
              <a:spcAft>
                <a:spcPts val="800"/>
              </a:spcAft>
              <a:buSzTx/>
              <a:buChar char="•"/>
            </a:pPr>
            <a:r>
              <a:rPr lang="en-us" sz="1700" b="1" cap="none">
                <a:solidFill>
                  <a:srgbClr val="E7EEF6"/>
                </a:solidFill>
              </a:rPr>
              <a:t>Clustering </a:t>
            </a:r>
            <a:r>
              <a:rPr lang="en-us" sz="1700" b="1" cap="none">
                <a:solidFill>
                  <a:srgbClr val="E7EEF6"/>
                </a:solidFill>
              </a:rPr>
              <a:t>serviu </a:t>
            </a:r>
            <a:r>
              <a:rPr lang="en-us" sz="1700" b="1" cap="none">
                <a:solidFill>
                  <a:srgbClr val="E7EEF6"/>
                </a:solidFill>
              </a:rPr>
              <a:t>para </a:t>
            </a:r>
            <a:r>
              <a:rPr lang="en-us" sz="1700" b="1" cap="none">
                <a:solidFill>
                  <a:srgbClr val="E7EEF6"/>
                </a:solidFill>
              </a:rPr>
              <a:t>levantar </a:t>
            </a:r>
            <a:r>
              <a:rPr lang="en-us" sz="1700" b="1" cap="none">
                <a:solidFill>
                  <a:srgbClr val="E7EEF6"/>
                </a:solidFill>
              </a:rPr>
              <a:t>hipótese, </a:t>
            </a:r>
            <a:r>
              <a:rPr lang="en-us" sz="1700" b="1" cap="none">
                <a:solidFill>
                  <a:srgbClr val="E7EEF6"/>
                </a:solidFill>
              </a:rPr>
              <a:t>não </a:t>
            </a:r>
            <a:r>
              <a:rPr lang="en-us" sz="1700" b="1" cap="none">
                <a:solidFill>
                  <a:srgbClr val="E7EEF6"/>
                </a:solidFill>
              </a:rPr>
              <a:t>para </a:t>
            </a:r>
            <a:r>
              <a:rPr lang="en-us" sz="1700" b="1" cap="none">
                <a:solidFill>
                  <a:srgbClr val="E7EEF6"/>
                </a:solidFill>
              </a:rPr>
              <a:t>provar </a:t>
            </a:r>
            <a:r>
              <a:rPr lang="en-us" sz="1700" b="1" cap="none">
                <a:solidFill>
                  <a:srgbClr val="E7EEF6"/>
                </a:solidFill>
              </a:rPr>
              <a:t>grupos.</a:t>
            </a:r>
            <a:endParaRPr lang="en-us" sz="1700" b="1" cap="none">
              <a:solidFill>
                <a:srgbClr val="E7EEF6"/>
              </a:solidFill>
            </a:endParaRPr>
          </a:p>
          <a:p>
            <a:pPr marL="177800" indent="-177800" algn="l">
              <a:spcAft>
                <a:spcPts val="800"/>
              </a:spcAft>
              <a:buSzTx/>
              <a:buChar char="•"/>
            </a:pPr>
            <a:r>
              <a:rPr lang="en-us" sz="1700" b="1" cap="none">
                <a:solidFill>
                  <a:srgbClr val="E7EEF6"/>
                </a:solidFill>
              </a:rPr>
              <a:t>A </a:t>
            </a:r>
            <a:r>
              <a:rPr lang="en-us" sz="1700" b="1" cap="none">
                <a:solidFill>
                  <a:srgbClr val="E7EEF6"/>
                </a:solidFill>
              </a:rPr>
              <a:t>URA </a:t>
            </a:r>
            <a:r>
              <a:rPr lang="en-us" sz="1700" b="1" cap="none">
                <a:solidFill>
                  <a:srgbClr val="E7EEF6"/>
                </a:solidFill>
              </a:rPr>
              <a:t>ordena </a:t>
            </a:r>
            <a:r>
              <a:rPr lang="en-us" sz="1700" b="1" cap="none">
                <a:solidFill>
                  <a:srgbClr val="E7EEF6"/>
                </a:solidFill>
              </a:rPr>
              <a:t>opções de menu; </a:t>
            </a:r>
            <a:r>
              <a:rPr lang="en-us" sz="1700" b="1" cap="none">
                <a:solidFill>
                  <a:srgbClr val="E7EEF6"/>
                </a:solidFill>
              </a:rPr>
              <a:t>não é </a:t>
            </a:r>
            <a:r>
              <a:rPr lang="en-us" sz="1700" b="1" cap="none">
                <a:solidFill>
                  <a:srgbClr val="E7EEF6"/>
                </a:solidFill>
              </a:rPr>
              <a:t>decisão, e o </a:t>
            </a:r>
            <a:r>
              <a:rPr lang="en-us" sz="1700" b="1" cap="none">
                <a:solidFill>
                  <a:srgbClr val="E7EEF6"/>
                </a:solidFill>
              </a:rPr>
              <a:t>atendente </a:t>
            </a:r>
            <a:r>
              <a:rPr lang="en-us" sz="1700" b="1" cap="none">
                <a:solidFill>
                  <a:srgbClr val="E7EEF6"/>
                </a:solidFill>
              </a:rPr>
              <a:t>está sempre </a:t>
            </a:r>
            <a:r>
              <a:rPr lang="en-us" sz="1700" b="1" cap="none">
                <a:solidFill>
                  <a:srgbClr val="E7EEF6"/>
                </a:solidFill>
              </a:rPr>
              <a:t>disponível.</a:t>
            </a:r>
            <a:endParaRPr lang="en-us" sz="1700" b="1" cap="none">
              <a:solidFill>
                <a:srgbClr val="E7EEF6"/>
              </a:solidFill>
            </a:endParaRPr>
          </a:p>
          <a:p>
            <a:pPr marL="177800" indent="-177800" algn="l">
              <a:spcAft>
                <a:spcPts val="800"/>
              </a:spcAft>
              <a:buSzTx/>
              <a:buChar char="•"/>
            </a:pPr>
            <a:r>
              <a:rPr lang="en-us" sz="1700" b="1" cap="none">
                <a:solidFill>
                  <a:srgbClr val="E7EEF6"/>
                </a:solidFill>
              </a:rPr>
              <a:t>Próximos </a:t>
            </a:r>
            <a:r>
              <a:rPr lang="en-us" sz="1700" b="1" cap="none">
                <a:solidFill>
                  <a:srgbClr val="E7EEF6"/>
                </a:solidFill>
              </a:rPr>
              <a:t>passos: </a:t>
            </a:r>
            <a:r>
              <a:rPr lang="en-us" sz="1700" b="1" cap="none">
                <a:solidFill>
                  <a:srgbClr val="E7EEF6"/>
                </a:solidFill>
              </a:rPr>
              <a:t>variáveis de </a:t>
            </a:r>
            <a:r>
              <a:rPr lang="en-us" sz="1700" b="1" cap="none">
                <a:solidFill>
                  <a:srgbClr val="E7EEF6"/>
                </a:solidFill>
              </a:rPr>
              <a:t>contexto, </a:t>
            </a:r>
            <a:r>
              <a:rPr lang="en-us" sz="1700" b="1" cap="none">
                <a:solidFill>
                  <a:srgbClr val="E7EEF6"/>
                </a:solidFill>
              </a:rPr>
              <a:t>tratar </a:t>
            </a:r>
            <a:r>
              <a:rPr lang="en-us" sz="1700" b="1" cap="none">
                <a:solidFill>
                  <a:srgbClr val="E7EEF6"/>
                </a:solidFill>
              </a:rPr>
              <a:t>desbalanceamento, </a:t>
            </a:r>
            <a:r>
              <a:rPr lang="en-us" sz="1700" b="1" cap="none">
                <a:solidFill>
                  <a:srgbClr val="E7EEF6"/>
                </a:solidFill>
              </a:rPr>
              <a:t>validação temporal.</a:t>
            </a:r>
            <a:endParaRPr lang="en-us" sz="1700" b="1" cap="none">
              <a:solidFill>
                <a:srgbClr val="E7EEF6"/>
              </a:solidFill>
            </a:endParaRPr>
          </a:p>
        </p:txBody>
      </p:sp>
      <p:sp>
        <p:nvSpPr>
          <p:cNvPr id="6" name="Text 4"/>
          <p:cNvSpPr>
            <a:extLst>
              <a:ext uri="smNativeData">
                <pr:smNativeData xmlns:pr="smNativeData" xmlns="smNativeData" val="SMDATA_16_kRU2ah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YLBg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AMAALAlAABAQQAA8CcAABAAAAAmAAAACAAAAP//////////MAAAABQAAAAAAAAAAAD//wAAAQAAAP//AAABAA=="/>
              </a:ext>
            </a:extLst>
          </p:cNvSpPr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E0A038"/>
                </a:solidFill>
              </a:rPr>
              <a:t>crime-sp-ml  ·  </a:t>
            </a:r>
            <a:r>
              <a:rPr lang="en-us" sz="1200" cap="none">
                <a:solidFill>
                  <a:srgbClr val="E0A038"/>
                </a:solidFill>
              </a:rPr>
              <a:t>obrigado</a:t>
            </a:r>
            <a:endParaRPr lang="en-us" sz="1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crime-sp-ml</dc:creator>
  <cp:keywords/>
  <dc:description/>
  <cp:lastModifiedBy>punk</cp:lastModifiedBy>
  <cp:revision>0</cp:revision>
  <dcterms:created xsi:type="dcterms:W3CDTF">2026-06-20T01:56:46Z</dcterms:created>
  <dcterms:modified xsi:type="dcterms:W3CDTF">2026-06-20T04:22:41Z</dcterms:modified>
</cp:coreProperties>
</file>