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031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A365D"/>
                </a:solidFill>
              </a:defRPr>
            </a:pPr>
            <a:r>
              <a:t>Análise espaço-temporal de crimes em São Paulo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9184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Localização e horário ajudam a ordenar os tipos de ocorrência? Mapas, clusterização e um protótipo de URA do 190.</a:t>
            </a:r>
          </a:p>
          <a:p>
            <a:pPr>
              <a:defRPr sz="1400">
                <a:solidFill>
                  <a:srgbClr val="444444"/>
                </a:solidFill>
              </a:defRPr>
            </a:pPr>
            <a:r>
              <a:t>Dados SSP/SP · município de São Paulo · 2022–2026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365D"/>
                </a:solidFill>
              </a:defRPr>
            </a:pPr>
            <a:r>
              <a:t>Pergunta do trabalho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444444"/>
                </a:solidFill>
              </a:defRPr>
            </a:pPr>
            <a:r>
              <a:t>• Um mapa só com latitude/longitude destaca as áreas de maior circulação (Centro, Av. Paulista) para quase todo tipo de crime.</a:t>
            </a:r>
          </a:p>
          <a:p>
            <a:pPr>
              <a:spcAft>
                <a:spcPts val="600"/>
              </a:spcAft>
              <a:defRPr sz="1800">
                <a:solidFill>
                  <a:srgbClr val="444444"/>
                </a:solidFill>
              </a:defRPr>
            </a:pPr>
            <a:r>
              <a:t>• Isso mede onde há mais registro e movimento — não o risco de quem mora ali.</a:t>
            </a:r>
          </a:p>
          <a:p>
            <a:pPr>
              <a:spcAft>
                <a:spcPts val="600"/>
              </a:spcAft>
              <a:defRPr sz="1800">
                <a:solidFill>
                  <a:srgbClr val="444444"/>
                </a:solidFill>
              </a:defRPr>
            </a:pPr>
            <a:r>
              <a:t>• Pergunta: incluir o horário ajuda a separar melhor os tipos de ocorrência e a ordenar opções de um atendimento?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365D"/>
                </a:solidFill>
              </a:defRPr>
            </a:pPr>
            <a:r>
              <a:t>Dados e filtros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444444"/>
                </a:solidFill>
              </a:defRPr>
            </a:pPr>
            <a:r>
              <a:t>• SSP/SP, município de São Paulo, 2022–2026 (corte em 29/04/2026).</a:t>
            </a:r>
          </a:p>
          <a:p>
            <a:pPr>
              <a:spcAft>
                <a:spcPts val="600"/>
              </a:spcAft>
              <a:defRPr sz="1800">
                <a:solidFill>
                  <a:srgbClr val="444444"/>
                </a:solidFill>
              </a:defRPr>
            </a:pPr>
            <a:r>
              <a:t>• 2,08 milhões de ocorrências; 24 naturezas após a limpeza.</a:t>
            </a:r>
          </a:p>
          <a:p>
            <a:pPr>
              <a:spcAft>
                <a:spcPts val="600"/>
              </a:spcAft>
              <a:defRPr sz="1800">
                <a:solidFill>
                  <a:srgbClr val="444444"/>
                </a:solidFill>
              </a:defRPr>
            </a:pPr>
            <a:r>
              <a:t>• Coordenadas inválidas (lat/long = 0 ou fora da cidade) descartadas (~195 mil).</a:t>
            </a:r>
          </a:p>
          <a:p>
            <a:pPr>
              <a:spcAft>
                <a:spcPts val="600"/>
              </a:spcAft>
              <a:defRPr sz="1800">
                <a:solidFill>
                  <a:srgbClr val="444444"/>
                </a:solidFill>
              </a:defRPr>
            </a:pPr>
            <a:r>
              <a:t>• Modelo usa só registros com hora exata e 20 classes (ver slide de resultados).</a:t>
            </a:r>
          </a:p>
          <a:p>
            <a:pPr>
              <a:spcAft>
                <a:spcPts val="600"/>
              </a:spcAft>
              <a:defRPr sz="1800">
                <a:solidFill>
                  <a:srgbClr val="444444"/>
                </a:solidFill>
              </a:defRPr>
            </a:pPr>
            <a:r>
              <a:t>• Desbalanceamento forte: Furto + Roubo somam ~75% das ocorrências.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365D"/>
                </a:solidFill>
              </a:defRPr>
            </a:pPr>
            <a:r>
              <a:t>Preparação das variáveis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444444"/>
                </a:solidFill>
              </a:defRPr>
            </a:pPr>
            <a:r>
              <a:t>• Entrada do modelo: latitude, longitude e hora.</a:t>
            </a:r>
          </a:p>
          <a:p>
            <a:pPr>
              <a:spcAft>
                <a:spcPts val="600"/>
              </a:spcAft>
              <a:defRPr sz="1800">
                <a:solidFill>
                  <a:srgbClr val="444444"/>
                </a:solidFill>
              </a:defRPr>
            </a:pPr>
            <a:r>
              <a:t>• Hora vira seno e cosseno, para 23h e 0h ficarem próximas.</a:t>
            </a:r>
          </a:p>
          <a:p>
            <a:pPr>
              <a:spcAft>
                <a:spcPts val="600"/>
              </a:spcAft>
              <a:defRPr sz="1800">
                <a:solidFill>
                  <a:srgbClr val="444444"/>
                </a:solidFill>
              </a:defRPr>
            </a:pPr>
            <a:r>
              <a:t>• O tipo de crime é o alvo — nunca entra como entrada (seria vazamento).</a:t>
            </a:r>
          </a:p>
          <a:p>
            <a:pPr>
              <a:spcAft>
                <a:spcPts val="600"/>
              </a:spcAft>
              <a:defRPr sz="1800">
                <a:solidFill>
                  <a:srgbClr val="444444"/>
                </a:solidFill>
              </a:defRPr>
            </a:pPr>
            <a:r>
              <a:t>• Período textual (manhã/tarde/noite) só é usado na exploração, não no modelo.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365D"/>
                </a:solidFill>
              </a:defRPr>
            </a:pPr>
            <a:r>
              <a:t>Mapa sem o horário</a:t>
            </a:r>
          </a:p>
        </p:txBody>
      </p:sp>
      <p:pic>
        <p:nvPicPr>
          <p:cNvPr id="3" name="Picture 2" descr="eda_densidade_hexb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4767961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7373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• Concentração no Centro e na região da Paulista.</a:t>
            </a:r>
          </a:p>
          <a:p>
            <a:pPr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• Tirando a Paulista, outras manchas continuam (corredores, terminais).</a:t>
            </a:r>
          </a:p>
          <a:p>
            <a:pPr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• Lê concentração de registros e circulação — não risco por morador.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365D"/>
                </a:solidFill>
              </a:defRPr>
            </a:pPr>
            <a:r>
              <a:t>Mapa com o horário</a:t>
            </a:r>
          </a:p>
        </p:txBody>
      </p:sp>
      <p:pic>
        <p:nvPicPr>
          <p:cNvPr id="3" name="Picture 2" descr="eda_heatmap_hora_x_cr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949440" cy="337124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80960" y="1737360"/>
            <a:ext cx="4206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• Cada tipo tem um horário típico:</a:t>
            </a:r>
          </a:p>
          <a:p>
            <a:pPr lvl="1">
              <a:spcAft>
                <a:spcPts val="600"/>
              </a:spcAft>
              <a:defRPr sz="1300">
                <a:solidFill>
                  <a:srgbClr val="444444"/>
                </a:solidFill>
              </a:defRPr>
            </a:pPr>
            <a:r>
              <a:t>– roubo de carga concentra de dia; roubo de veículo, à noite.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• Observado nos dados. Não afirma causa — só descreve o padrão.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365D"/>
                </a:solidFill>
              </a:defRPr>
            </a:pPr>
            <a:r>
              <a:t>Visualização 3D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444444"/>
                </a:solidFill>
              </a:defRPr>
            </a:pPr>
            <a:r>
              <a:t>• Eixos: longitude, latitude e hora; cor = tipo de crime.</a:t>
            </a:r>
          </a:p>
          <a:p>
            <a:pPr>
              <a:spcAft>
                <a:spcPts val="600"/>
              </a:spcAft>
              <a:defRPr sz="1800">
                <a:solidFill>
                  <a:srgbClr val="444444"/>
                </a:solidFill>
              </a:defRPr>
            </a:pPr>
            <a:r>
              <a:t>• Serve para olhar espaço e tempo ao mesmo tempo.</a:t>
            </a:r>
          </a:p>
          <a:p>
            <a:pPr>
              <a:spcAft>
                <a:spcPts val="600"/>
              </a:spcAft>
              <a:defRPr sz="1800">
                <a:solidFill>
                  <a:srgbClr val="444444"/>
                </a:solidFill>
              </a:defRPr>
            </a:pPr>
            <a:r>
              <a:t>• É apoio visual para gerar hipóteses, não uma métrica.</a:t>
            </a:r>
          </a:p>
          <a:p>
            <a:pPr>
              <a:spcAft>
                <a:spcPts val="600"/>
              </a:spcAft>
              <a:defRPr sz="1800">
                <a:solidFill>
                  <a:srgbClr val="444444"/>
                </a:solidFill>
              </a:defRPr>
            </a:pPr>
            <a:r>
              <a:t>• Arquivo: reports/figures/crimes_3d_long_lat_tempo.html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365D"/>
                </a:solidFill>
              </a:defRPr>
            </a:pPr>
            <a:r>
              <a:t>Clusterização</a:t>
            </a:r>
          </a:p>
        </p:txBody>
      </p:sp>
      <p:pic>
        <p:nvPicPr>
          <p:cNvPr id="3" name="Picture 2" descr="silhouette_kme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675120" cy="23960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73736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• KMeans sobre latitude, longitude e hora (seno/cosseno).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• k = 9; silhouette ≈ 0.32.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• Silhouette baixo: grupos pouco separados.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• DBSCAN/HDBSCAN muito sensíveis ao parâmetro; sem partição estável.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365D"/>
                </a:solidFill>
              </a:defRPr>
            </a:pPr>
            <a:r>
              <a:t>O que os clusters sugerem (hipótese)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444444"/>
                </a:solidFill>
              </a:defRPr>
            </a:pPr>
            <a:r>
              <a:t>• Tratamos os clusters como exploração, não prova.</a:t>
            </a:r>
          </a:p>
          <a:p>
            <a:pPr>
              <a:spcAft>
                <a:spcPts val="600"/>
              </a:spcAft>
              <a:defRPr sz="1800">
                <a:solidFill>
                  <a:srgbClr val="444444"/>
                </a:solidFill>
              </a:defRPr>
            </a:pPr>
            <a:r>
              <a:t>• A região central aparece dividida em grupos que mudam pelo horário.</a:t>
            </a:r>
          </a:p>
          <a:p>
            <a:pPr>
              <a:spcAft>
                <a:spcPts val="600"/>
              </a:spcAft>
              <a:defRPr sz="1800">
                <a:solidFill>
                  <a:srgbClr val="444444"/>
                </a:solidFill>
              </a:defRPr>
            </a:pPr>
            <a:r>
              <a:t>• Furto e Roubo dominam todos os grupos — efeito do desbalanceamento.</a:t>
            </a:r>
          </a:p>
          <a:p>
            <a:pPr>
              <a:spcAft>
                <a:spcPts val="600"/>
              </a:spcAft>
              <a:defRPr sz="1800">
                <a:solidFill>
                  <a:srgbClr val="444444"/>
                </a:solidFill>
              </a:defRPr>
            </a:pPr>
            <a:r>
              <a:t>• Sinaliza que o horário separa pontos que a localização sozinha junta.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365D"/>
                </a:solidFill>
              </a:defRPr>
            </a:pPr>
            <a:r>
              <a:t>Modelo preditivo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444444"/>
                </a:solidFill>
              </a:defRPr>
            </a:pPr>
            <a:r>
              <a:t>• Entrada: latitude, longitude, hora → probabilidade de cada tipo.</a:t>
            </a:r>
          </a:p>
          <a:p>
            <a:pPr>
              <a:spcAft>
                <a:spcPts val="600"/>
              </a:spcAft>
              <a:defRPr sz="1800">
                <a:solidFill>
                  <a:srgbClr val="444444"/>
                </a:solidFill>
              </a:defRPr>
            </a:pPr>
            <a:r>
              <a:t>• 20 classes (após os filtros de modelagem); split estratificado.</a:t>
            </a:r>
          </a:p>
          <a:p>
            <a:pPr>
              <a:spcAft>
                <a:spcPts val="600"/>
              </a:spcAft>
              <a:defRPr sz="1800">
                <a:solidFill>
                  <a:srgbClr val="444444"/>
                </a:solidFill>
              </a:defRPr>
            </a:pPr>
            <a:r>
              <a:t>• Comparados: Dummy (base-rate), LogReg, RandomForest, HistGB. Vencedor: random_forest.</a:t>
            </a:r>
          </a:p>
          <a:p>
            <a:pPr>
              <a:spcAft>
                <a:spcPts val="600"/>
              </a:spcAft>
              <a:defRPr sz="1800">
                <a:solidFill>
                  <a:srgbClr val="444444"/>
                </a:solidFill>
              </a:defRPr>
            </a:pPr>
            <a:r>
              <a:t>• Escolha pelo acerto da 1ª opção (top-1), não pelo top-3 (ver resultados).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365D"/>
                </a:solidFill>
              </a:defRPr>
            </a:pPr>
            <a:r>
              <a:t>Exemplo da URA do 190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444444"/>
                </a:solidFill>
              </a:defRPr>
            </a:pPr>
            <a:r>
              <a:t>• Menu curto: até 2 tipos prováveis + falar com atendente (sempre presente).</a:t>
            </a:r>
          </a:p>
          <a:p>
            <a:pPr lvl="1"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– Av. Paulista, 19h: ROUBO - OUTROS (46.8%), FURTO - OUTROS (39.1%)</a:t>
            </a:r>
          </a:p>
          <a:p>
            <a:pPr lvl="1"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– Zona Leste, 8h: FURTO - OUTROS (26.8%), FURTO DE VEICULO (26.6%)</a:t>
            </a:r>
          </a:p>
          <a:p>
            <a:pPr>
              <a:spcAft>
                <a:spcPts val="600"/>
              </a:spcAft>
              <a:defRPr sz="1800">
                <a:solidFill>
                  <a:srgbClr val="444444"/>
                </a:solidFill>
              </a:defRPr>
            </a:pPr>
            <a:r>
              <a:t>• Ordena opções de menu. Não classifica a ocorrência nem decide o despacho.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365D"/>
                </a:solidFill>
              </a:defRPr>
            </a:pPr>
            <a:r>
              <a:t>Resultados do modelo</a:t>
            </a:r>
          </a:p>
        </p:txBody>
      </p:sp>
      <p:pic>
        <p:nvPicPr>
          <p:cNvPr id="3" name="Picture 2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5729135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6459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444444"/>
                </a:solidFill>
              </a:defRPr>
            </a:pPr>
            <a:r>
              <a:t>• Top-1: 45.7% (base-rate 36.2%; +9.5 pp).</a:t>
            </a:r>
          </a:p>
          <a:p>
            <a:pPr>
              <a:spcAft>
                <a:spcPts val="600"/>
              </a:spcAft>
              <a:defRPr sz="1400">
                <a:solidFill>
                  <a:srgbClr val="444444"/>
                </a:solidFill>
              </a:defRPr>
            </a:pPr>
            <a:r>
              <a:t>• Top-3: 82.7%, quase igual ao baseline (81.2%) — mérito da distribuição, não do modelo.</a:t>
            </a:r>
          </a:p>
          <a:p>
            <a:pPr>
              <a:spcAft>
                <a:spcPts val="600"/>
              </a:spcAft>
              <a:defRPr sz="1400">
                <a:solidFill>
                  <a:srgbClr val="444444"/>
                </a:solidFill>
              </a:defRPr>
            </a:pPr>
            <a:r>
              <a:t>• Balanced accuracy 0.071 e macro-F1 0.065: baixos.</a:t>
            </a:r>
          </a:p>
          <a:p>
            <a:pPr>
              <a:spcAft>
                <a:spcPts val="600"/>
              </a:spcAft>
              <a:defRPr sz="1400">
                <a:solidFill>
                  <a:srgbClr val="444444"/>
                </a:solidFill>
              </a:defRPr>
            </a:pPr>
            <a:r>
              <a:t>• Melhora o top-1 sobre a base-rate, mas concentra as previsões nas classes mais frequentes — pouca leitura para crimes raros.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365D"/>
                </a:solidFill>
              </a:defRPr>
            </a:pPr>
            <a:r>
              <a:t>Limitações e ética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444444"/>
                </a:solidFill>
              </a:defRPr>
            </a:pPr>
            <a:r>
              <a:t>• Não distingue bem crimes raros (macro-F1 baixo).</a:t>
            </a:r>
          </a:p>
          <a:p>
            <a:pPr>
              <a:spcAft>
                <a:spcPts val="600"/>
              </a:spcAft>
              <a:defRPr sz="1800">
                <a:solidFill>
                  <a:srgbClr val="444444"/>
                </a:solidFill>
              </a:defRPr>
            </a:pPr>
            <a:r>
              <a:t>• Mapas refletem registro e circulação, não risco individual.</a:t>
            </a:r>
          </a:p>
          <a:p>
            <a:pPr>
              <a:spcAft>
                <a:spcPts val="600"/>
              </a:spcAft>
              <a:defRPr sz="1800">
                <a:solidFill>
                  <a:srgbClr val="444444"/>
                </a:solidFill>
              </a:defRPr>
            </a:pPr>
            <a:r>
              <a:t>• Dados históricos podem carregar viés de notificação e de policiamento.</a:t>
            </a:r>
          </a:p>
          <a:p>
            <a:pPr>
              <a:spcAft>
                <a:spcPts val="600"/>
              </a:spcAft>
              <a:defRPr sz="1800">
                <a:solidFill>
                  <a:srgbClr val="444444"/>
                </a:solidFill>
              </a:defRPr>
            </a:pPr>
            <a:r>
              <a:t>• Protótipo de ordenação de menu: não decide policiamento; atendente sempre disponível.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365D"/>
                </a:solidFill>
              </a:defRPr>
            </a:pPr>
            <a:r>
              <a:t>Conclusão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444444"/>
                </a:solidFill>
              </a:defRPr>
            </a:pPr>
            <a:r>
              <a:t>• O horário ajuda: clusters mudam por hora e o top-1 sobe +9.5 pp sobre a base-rate.</a:t>
            </a:r>
          </a:p>
          <a:p>
            <a:pPr>
              <a:spcAft>
                <a:spcPts val="600"/>
              </a:spcAft>
              <a:defRPr sz="1800">
                <a:solidFill>
                  <a:srgbClr val="444444"/>
                </a:solidFill>
              </a:defRPr>
            </a:pPr>
            <a:r>
              <a:t>• Clustering serviu para levantar hipóteses, não para provar separação.</a:t>
            </a:r>
          </a:p>
          <a:p>
            <a:pPr>
              <a:spcAft>
                <a:spcPts val="600"/>
              </a:spcAft>
              <a:defRPr sz="1800">
                <a:solidFill>
                  <a:srgbClr val="444444"/>
                </a:solidFill>
              </a:defRPr>
            </a:pPr>
            <a:r>
              <a:t>• O ganho real é modesto e está no top-1; o top-3 vem da distribuição.</a:t>
            </a:r>
          </a:p>
          <a:p>
            <a:pPr>
              <a:spcAft>
                <a:spcPts val="600"/>
              </a:spcAft>
              <a:defRPr sz="1800">
                <a:solidFill>
                  <a:srgbClr val="444444"/>
                </a:solidFill>
              </a:defRPr>
            </a:pPr>
            <a:r>
              <a:t>• Próximos passos: variáveis de contexto, tratar desbalanceamento, validação temporal.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